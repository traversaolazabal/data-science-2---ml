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59" r:id="rId4"/>
    <p:sldId id="258" r:id="rId5"/>
    <p:sldId id="260" r:id="rId6"/>
    <p:sldId id="261" r:id="rId7"/>
    <p:sldId id="262" r:id="rId8"/>
    <p:sldId id="265" r:id="rId9"/>
    <p:sldId id="266" r:id="rId10"/>
    <p:sldId id="267" r:id="rId11"/>
    <p:sldId id="268" r:id="rId12"/>
    <p:sldId id="271" r:id="rId13"/>
    <p:sldId id="272" r:id="rId14"/>
    <p:sldId id="273" r:id="rId15"/>
    <p:sldId id="269" r:id="rId16"/>
    <p:sldId id="270" r:id="rId17"/>
    <p:sldId id="27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1138"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33821-597E-4B4F-8572-5DA1CB183565}"/>
              </a:ext>
            </a:extLst>
          </p:cNvPr>
          <p:cNvSpPr>
            <a:spLocks noGrp="1"/>
          </p:cNvSpPr>
          <p:nvPr>
            <p:ph type="ctrTitle"/>
          </p:nvPr>
        </p:nvSpPr>
        <p:spPr>
          <a:xfrm>
            <a:off x="548640" y="950976"/>
            <a:ext cx="6509385" cy="3556730"/>
          </a:xfrm>
        </p:spPr>
        <p:txBody>
          <a:bodyPr anchor="t">
            <a:normAutofit/>
          </a:bodyPr>
          <a:lstStyle>
            <a:lvl1pPr algn="l">
              <a:defRPr sz="4400"/>
            </a:lvl1pPr>
          </a:lstStyle>
          <a:p>
            <a:r>
              <a:rPr lang="en-US" dirty="0"/>
              <a:t>Click to edit Master title style</a:t>
            </a:r>
          </a:p>
        </p:txBody>
      </p:sp>
      <p:sp>
        <p:nvSpPr>
          <p:cNvPr id="3" name="Subtitle 2">
            <a:extLst>
              <a:ext uri="{FF2B5EF4-FFF2-40B4-BE49-F238E27FC236}">
                <a16:creationId xmlns:a16="http://schemas.microsoft.com/office/drawing/2014/main" id="{F4C38D70-8FF5-47D7-A0DD-087A227BC94F}"/>
              </a:ext>
            </a:extLst>
          </p:cNvPr>
          <p:cNvSpPr>
            <a:spLocks noGrp="1"/>
          </p:cNvSpPr>
          <p:nvPr>
            <p:ph type="subTitle" idx="1"/>
          </p:nvPr>
        </p:nvSpPr>
        <p:spPr>
          <a:xfrm>
            <a:off x="576072" y="4572000"/>
            <a:ext cx="6481953" cy="1485900"/>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DB5B485-516D-48B7-AF1D-69AEEA351A94}"/>
              </a:ext>
            </a:extLst>
          </p:cNvPr>
          <p:cNvSpPr>
            <a:spLocks noGrp="1"/>
          </p:cNvSpPr>
          <p:nvPr>
            <p:ph type="dt" sz="half" idx="10"/>
          </p:nvPr>
        </p:nvSpPr>
        <p:spPr/>
        <p:txBody>
          <a:bodyPr/>
          <a:lstStyle/>
          <a:p>
            <a:fld id="{4CDE23C7-78A4-413A-A84B-93D4CC0A9EB1}" type="datetimeFigureOut">
              <a:rPr lang="en-US" smtClean="0"/>
              <a:t>7/20/2025</a:t>
            </a:fld>
            <a:endParaRPr lang="en-US"/>
          </a:p>
        </p:txBody>
      </p:sp>
      <p:sp>
        <p:nvSpPr>
          <p:cNvPr id="5" name="Footer Placeholder 4">
            <a:extLst>
              <a:ext uri="{FF2B5EF4-FFF2-40B4-BE49-F238E27FC236}">
                <a16:creationId xmlns:a16="http://schemas.microsoft.com/office/drawing/2014/main" id="{1D614DDB-2831-4FF8-9DA7-0449659D7A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F178F6-65BA-4964-80E2-DB6EA3355FBB}"/>
              </a:ext>
            </a:extLst>
          </p:cNvPr>
          <p:cNvSpPr>
            <a:spLocks noGrp="1"/>
          </p:cNvSpPr>
          <p:nvPr>
            <p:ph type="sldNum" sz="quarter" idx="12"/>
          </p:nvPr>
        </p:nvSpPr>
        <p:spPr/>
        <p:txBody>
          <a:bodyPr/>
          <a:lstStyle/>
          <a:p>
            <a:fld id="{6CB39E08-E0E5-4B1A-8F7D-08FE7678A3B6}" type="slidenum">
              <a:rPr lang="en-US" smtClean="0"/>
              <a:t>‹Nº›</a:t>
            </a:fld>
            <a:endParaRPr lang="en-US"/>
          </a:p>
        </p:txBody>
      </p:sp>
    </p:spTree>
    <p:extLst>
      <p:ext uri="{BB962C8B-B14F-4D97-AF65-F5344CB8AC3E}">
        <p14:creationId xmlns:p14="http://schemas.microsoft.com/office/powerpoint/2010/main" val="2387941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A45AC-24E0-45A1-90C3-7BF96C3FC7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2018E1-7CA3-4B5E-9683-554FDFC63E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95D32D-7150-4DF2-B992-A2B4F5605D94}"/>
              </a:ext>
            </a:extLst>
          </p:cNvPr>
          <p:cNvSpPr>
            <a:spLocks noGrp="1"/>
          </p:cNvSpPr>
          <p:nvPr>
            <p:ph type="dt" sz="half" idx="10"/>
          </p:nvPr>
        </p:nvSpPr>
        <p:spPr/>
        <p:txBody>
          <a:bodyPr/>
          <a:lstStyle/>
          <a:p>
            <a:fld id="{4CDE23C7-78A4-413A-A84B-93D4CC0A9EB1}" type="datetimeFigureOut">
              <a:rPr lang="en-US" smtClean="0"/>
              <a:t>7/20/2025</a:t>
            </a:fld>
            <a:endParaRPr lang="en-US"/>
          </a:p>
        </p:txBody>
      </p:sp>
      <p:sp>
        <p:nvSpPr>
          <p:cNvPr id="5" name="Footer Placeholder 4">
            <a:extLst>
              <a:ext uri="{FF2B5EF4-FFF2-40B4-BE49-F238E27FC236}">
                <a16:creationId xmlns:a16="http://schemas.microsoft.com/office/drawing/2014/main" id="{F3D03F0C-FCA3-464C-B6ED-864DB51E7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C41006-DAE1-4326-B1AE-FD527A653BDE}"/>
              </a:ext>
            </a:extLst>
          </p:cNvPr>
          <p:cNvSpPr>
            <a:spLocks noGrp="1"/>
          </p:cNvSpPr>
          <p:nvPr>
            <p:ph type="sldNum" sz="quarter" idx="12"/>
          </p:nvPr>
        </p:nvSpPr>
        <p:spPr/>
        <p:txBody>
          <a:bodyPr/>
          <a:lstStyle/>
          <a:p>
            <a:fld id="{6CB39E08-E0E5-4B1A-8F7D-08FE7678A3B6}" type="slidenum">
              <a:rPr lang="en-US" smtClean="0"/>
              <a:t>‹Nº›</a:t>
            </a:fld>
            <a:endParaRPr lang="en-US"/>
          </a:p>
        </p:txBody>
      </p:sp>
    </p:spTree>
    <p:extLst>
      <p:ext uri="{BB962C8B-B14F-4D97-AF65-F5344CB8AC3E}">
        <p14:creationId xmlns:p14="http://schemas.microsoft.com/office/powerpoint/2010/main" val="612193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B84-BE32-464A-A765-975C21B5CF4B}"/>
              </a:ext>
            </a:extLst>
          </p:cNvPr>
          <p:cNvSpPr>
            <a:spLocks noGrp="1"/>
          </p:cNvSpPr>
          <p:nvPr>
            <p:ph type="title"/>
          </p:nvPr>
        </p:nvSpPr>
        <p:spPr>
          <a:xfrm>
            <a:off x="557923" y="952500"/>
            <a:ext cx="6678695" cy="3962398"/>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640145C2-97CF-4887-904A-8ADC80525A2E}"/>
              </a:ext>
            </a:extLst>
          </p:cNvPr>
          <p:cNvSpPr>
            <a:spLocks noGrp="1"/>
          </p:cNvSpPr>
          <p:nvPr>
            <p:ph type="body" idx="1"/>
          </p:nvPr>
        </p:nvSpPr>
        <p:spPr>
          <a:xfrm>
            <a:off x="8043860" y="952501"/>
            <a:ext cx="3500440" cy="396239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E524559-DA32-4398-A8EE-EED2469D63BB}"/>
              </a:ext>
            </a:extLst>
          </p:cNvPr>
          <p:cNvSpPr>
            <a:spLocks noGrp="1"/>
          </p:cNvSpPr>
          <p:nvPr>
            <p:ph type="dt" sz="half" idx="10"/>
          </p:nvPr>
        </p:nvSpPr>
        <p:spPr/>
        <p:txBody>
          <a:bodyPr/>
          <a:lstStyle/>
          <a:p>
            <a:fld id="{4CDE23C7-78A4-413A-A84B-93D4CC0A9EB1}" type="datetimeFigureOut">
              <a:rPr lang="en-US" smtClean="0"/>
              <a:t>7/20/2025</a:t>
            </a:fld>
            <a:endParaRPr lang="en-US"/>
          </a:p>
        </p:txBody>
      </p:sp>
      <p:sp>
        <p:nvSpPr>
          <p:cNvPr id="5" name="Footer Placeholder 4">
            <a:extLst>
              <a:ext uri="{FF2B5EF4-FFF2-40B4-BE49-F238E27FC236}">
                <a16:creationId xmlns:a16="http://schemas.microsoft.com/office/drawing/2014/main" id="{73967BE1-F1AC-4732-B52E-1C7D63DEF8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A13C03-DDF0-48C6-B1BF-D28875F8238F}"/>
              </a:ext>
            </a:extLst>
          </p:cNvPr>
          <p:cNvSpPr>
            <a:spLocks noGrp="1"/>
          </p:cNvSpPr>
          <p:nvPr>
            <p:ph type="sldNum" sz="quarter" idx="12"/>
          </p:nvPr>
        </p:nvSpPr>
        <p:spPr/>
        <p:txBody>
          <a:bodyPr/>
          <a:lstStyle/>
          <a:p>
            <a:fld id="{6CB39E08-E0E5-4B1A-8F7D-08FE7678A3B6}" type="slidenum">
              <a:rPr lang="en-US" smtClean="0"/>
              <a:t>‹Nº›</a:t>
            </a:fld>
            <a:endParaRPr lang="en-US"/>
          </a:p>
        </p:txBody>
      </p:sp>
    </p:spTree>
    <p:extLst>
      <p:ext uri="{BB962C8B-B14F-4D97-AF65-F5344CB8AC3E}">
        <p14:creationId xmlns:p14="http://schemas.microsoft.com/office/powerpoint/2010/main" val="3492106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6F411-42B3-4A17-BE7E-861BE7E7DC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8E0603-F4C0-40AC-A53E-40449D53D741}"/>
              </a:ext>
            </a:extLst>
          </p:cNvPr>
          <p:cNvSpPr>
            <a:spLocks noGrp="1"/>
          </p:cNvSpPr>
          <p:nvPr>
            <p:ph sz="half" idx="1"/>
          </p:nvPr>
        </p:nvSpPr>
        <p:spPr>
          <a:xfrm>
            <a:off x="548640" y="2029968"/>
            <a:ext cx="5281506" cy="41481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6BC5634-2887-4182-A9BE-B382357D4F9C}"/>
              </a:ext>
            </a:extLst>
          </p:cNvPr>
          <p:cNvSpPr>
            <a:spLocks noGrp="1"/>
          </p:cNvSpPr>
          <p:nvPr>
            <p:ph sz="half" idx="2"/>
          </p:nvPr>
        </p:nvSpPr>
        <p:spPr>
          <a:xfrm>
            <a:off x="6257928" y="2029968"/>
            <a:ext cx="5281506" cy="41481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D56B6E74-28E1-4684-B515-4265ED7B1EAE}"/>
              </a:ext>
            </a:extLst>
          </p:cNvPr>
          <p:cNvSpPr>
            <a:spLocks noGrp="1"/>
          </p:cNvSpPr>
          <p:nvPr>
            <p:ph type="dt" sz="half" idx="10"/>
          </p:nvPr>
        </p:nvSpPr>
        <p:spPr/>
        <p:txBody>
          <a:bodyPr/>
          <a:lstStyle/>
          <a:p>
            <a:fld id="{4CDE23C7-78A4-413A-A84B-93D4CC0A9EB1}" type="datetimeFigureOut">
              <a:rPr lang="en-US" smtClean="0"/>
              <a:t>7/20/2025</a:t>
            </a:fld>
            <a:endParaRPr lang="en-US"/>
          </a:p>
        </p:txBody>
      </p:sp>
      <p:sp>
        <p:nvSpPr>
          <p:cNvPr id="6" name="Footer Placeholder 5">
            <a:extLst>
              <a:ext uri="{FF2B5EF4-FFF2-40B4-BE49-F238E27FC236}">
                <a16:creationId xmlns:a16="http://schemas.microsoft.com/office/drawing/2014/main" id="{18D375EA-A8F8-485D-A82F-CD85D4C9E1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D9E4B0-F5E3-407F-A548-B616E774987F}"/>
              </a:ext>
            </a:extLst>
          </p:cNvPr>
          <p:cNvSpPr>
            <a:spLocks noGrp="1"/>
          </p:cNvSpPr>
          <p:nvPr>
            <p:ph type="sldNum" sz="quarter" idx="12"/>
          </p:nvPr>
        </p:nvSpPr>
        <p:spPr/>
        <p:txBody>
          <a:bodyPr/>
          <a:lstStyle/>
          <a:p>
            <a:fld id="{6CB39E08-E0E5-4B1A-8F7D-08FE7678A3B6}" type="slidenum">
              <a:rPr lang="en-US" smtClean="0"/>
              <a:t>‹Nº›</a:t>
            </a:fld>
            <a:endParaRPr lang="en-US"/>
          </a:p>
        </p:txBody>
      </p:sp>
    </p:spTree>
    <p:extLst>
      <p:ext uri="{BB962C8B-B14F-4D97-AF65-F5344CB8AC3E}">
        <p14:creationId xmlns:p14="http://schemas.microsoft.com/office/powerpoint/2010/main" val="1712705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2161A-7627-4D64-AF08-10D702AFE286}"/>
              </a:ext>
            </a:extLst>
          </p:cNvPr>
          <p:cNvSpPr>
            <a:spLocks noGrp="1"/>
          </p:cNvSpPr>
          <p:nvPr>
            <p:ph type="title"/>
          </p:nvPr>
        </p:nvSpPr>
        <p:spPr>
          <a:xfrm>
            <a:off x="552659" y="950976"/>
            <a:ext cx="10802729" cy="881796"/>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53B6884-07D8-4CC4-BE99-516F1433BED8}"/>
              </a:ext>
            </a:extLst>
          </p:cNvPr>
          <p:cNvSpPr>
            <a:spLocks noGrp="1"/>
          </p:cNvSpPr>
          <p:nvPr>
            <p:ph type="body" idx="1"/>
          </p:nvPr>
        </p:nvSpPr>
        <p:spPr>
          <a:xfrm>
            <a:off x="542918" y="1832772"/>
            <a:ext cx="5281507" cy="742638"/>
          </a:xfrm>
        </p:spPr>
        <p:txBody>
          <a:bodyPr anchor="b">
            <a:normAutofit/>
          </a:bodyPr>
          <a:lstStyle>
            <a:lvl1pPr marL="0" indent="0">
              <a:buNone/>
              <a:defRPr sz="1800" b="1" cap="all" spc="1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E182C638-B5A8-4F8C-85AE-33BEAF54C07A}"/>
              </a:ext>
            </a:extLst>
          </p:cNvPr>
          <p:cNvSpPr>
            <a:spLocks noGrp="1"/>
          </p:cNvSpPr>
          <p:nvPr>
            <p:ph sz="half" idx="2"/>
          </p:nvPr>
        </p:nvSpPr>
        <p:spPr>
          <a:xfrm>
            <a:off x="548640" y="2600531"/>
            <a:ext cx="528150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E40D1933-A703-4BDC-A697-728E899EEDE1}"/>
              </a:ext>
            </a:extLst>
          </p:cNvPr>
          <p:cNvSpPr>
            <a:spLocks noGrp="1"/>
          </p:cNvSpPr>
          <p:nvPr>
            <p:ph type="body" sz="quarter" idx="3"/>
          </p:nvPr>
        </p:nvSpPr>
        <p:spPr>
          <a:xfrm>
            <a:off x="6257927" y="1832772"/>
            <a:ext cx="5283202" cy="742638"/>
          </a:xfrm>
        </p:spPr>
        <p:txBody>
          <a:bodyPr anchor="b">
            <a:normAutofit/>
          </a:bodyPr>
          <a:lstStyle>
            <a:lvl1pPr marL="0" indent="0">
              <a:buNone/>
              <a:defRPr sz="1800" b="1" cap="all" spc="1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5925DBD-4D51-4A2D-B1E4-6D094CD1E803}"/>
              </a:ext>
            </a:extLst>
          </p:cNvPr>
          <p:cNvSpPr>
            <a:spLocks noGrp="1"/>
          </p:cNvSpPr>
          <p:nvPr>
            <p:ph sz="quarter" idx="4"/>
          </p:nvPr>
        </p:nvSpPr>
        <p:spPr>
          <a:xfrm>
            <a:off x="6257927" y="2600531"/>
            <a:ext cx="52832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2636E2-E26E-42F7-9E05-3F756C7D17AE}"/>
              </a:ext>
            </a:extLst>
          </p:cNvPr>
          <p:cNvSpPr>
            <a:spLocks noGrp="1"/>
          </p:cNvSpPr>
          <p:nvPr>
            <p:ph type="dt" sz="half" idx="10"/>
          </p:nvPr>
        </p:nvSpPr>
        <p:spPr/>
        <p:txBody>
          <a:bodyPr/>
          <a:lstStyle/>
          <a:p>
            <a:fld id="{4CDE23C7-78A4-413A-A84B-93D4CC0A9EB1}" type="datetimeFigureOut">
              <a:rPr lang="en-US" smtClean="0"/>
              <a:t>7/20/2025</a:t>
            </a:fld>
            <a:endParaRPr lang="en-US"/>
          </a:p>
        </p:txBody>
      </p:sp>
      <p:sp>
        <p:nvSpPr>
          <p:cNvPr id="8" name="Footer Placeholder 7">
            <a:extLst>
              <a:ext uri="{FF2B5EF4-FFF2-40B4-BE49-F238E27FC236}">
                <a16:creationId xmlns:a16="http://schemas.microsoft.com/office/drawing/2014/main" id="{86F7281B-0E5C-421E-AFFE-775F57C5DD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E483462-E410-4DC7-AE53-27AABECFE6E8}"/>
              </a:ext>
            </a:extLst>
          </p:cNvPr>
          <p:cNvSpPr>
            <a:spLocks noGrp="1"/>
          </p:cNvSpPr>
          <p:nvPr>
            <p:ph type="sldNum" sz="quarter" idx="12"/>
          </p:nvPr>
        </p:nvSpPr>
        <p:spPr/>
        <p:txBody>
          <a:bodyPr/>
          <a:lstStyle/>
          <a:p>
            <a:fld id="{6CB39E08-E0E5-4B1A-8F7D-08FE7678A3B6}" type="slidenum">
              <a:rPr lang="en-US" smtClean="0"/>
              <a:t>‹Nº›</a:t>
            </a:fld>
            <a:endParaRPr lang="en-US"/>
          </a:p>
        </p:txBody>
      </p:sp>
    </p:spTree>
    <p:extLst>
      <p:ext uri="{BB962C8B-B14F-4D97-AF65-F5344CB8AC3E}">
        <p14:creationId xmlns:p14="http://schemas.microsoft.com/office/powerpoint/2010/main" val="3720007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CFA68-31B5-48C5-929A-842FDF0FD8E7}"/>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95A2600-419E-46E9-946F-FBDEDBA1D448}"/>
              </a:ext>
            </a:extLst>
          </p:cNvPr>
          <p:cNvSpPr>
            <a:spLocks noGrp="1"/>
          </p:cNvSpPr>
          <p:nvPr>
            <p:ph type="dt" sz="half" idx="10"/>
          </p:nvPr>
        </p:nvSpPr>
        <p:spPr/>
        <p:txBody>
          <a:bodyPr/>
          <a:lstStyle/>
          <a:p>
            <a:fld id="{4CDE23C7-78A4-413A-A84B-93D4CC0A9EB1}" type="datetimeFigureOut">
              <a:rPr lang="en-US" smtClean="0"/>
              <a:t>7/20/2025</a:t>
            </a:fld>
            <a:endParaRPr lang="en-US"/>
          </a:p>
        </p:txBody>
      </p:sp>
      <p:sp>
        <p:nvSpPr>
          <p:cNvPr id="4" name="Footer Placeholder 3">
            <a:extLst>
              <a:ext uri="{FF2B5EF4-FFF2-40B4-BE49-F238E27FC236}">
                <a16:creationId xmlns:a16="http://schemas.microsoft.com/office/drawing/2014/main" id="{1385F9A9-98FF-4653-A570-9F351A1ABDC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D44457-95F1-4B15-A647-B14F91F7A6D4}"/>
              </a:ext>
            </a:extLst>
          </p:cNvPr>
          <p:cNvSpPr>
            <a:spLocks noGrp="1"/>
          </p:cNvSpPr>
          <p:nvPr>
            <p:ph type="sldNum" sz="quarter" idx="12"/>
          </p:nvPr>
        </p:nvSpPr>
        <p:spPr/>
        <p:txBody>
          <a:bodyPr/>
          <a:lstStyle/>
          <a:p>
            <a:fld id="{6CB39E08-E0E5-4B1A-8F7D-08FE7678A3B6}" type="slidenum">
              <a:rPr lang="en-US" smtClean="0"/>
              <a:t>‹Nº›</a:t>
            </a:fld>
            <a:endParaRPr lang="en-US"/>
          </a:p>
        </p:txBody>
      </p:sp>
    </p:spTree>
    <p:extLst>
      <p:ext uri="{BB962C8B-B14F-4D97-AF65-F5344CB8AC3E}">
        <p14:creationId xmlns:p14="http://schemas.microsoft.com/office/powerpoint/2010/main" val="2373324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19EABA-1008-4E49-9184-3A946ECD7199}"/>
              </a:ext>
            </a:extLst>
          </p:cNvPr>
          <p:cNvSpPr>
            <a:spLocks noGrp="1"/>
          </p:cNvSpPr>
          <p:nvPr>
            <p:ph type="dt" sz="half" idx="10"/>
          </p:nvPr>
        </p:nvSpPr>
        <p:spPr/>
        <p:txBody>
          <a:bodyPr/>
          <a:lstStyle/>
          <a:p>
            <a:fld id="{4CDE23C7-78A4-413A-A84B-93D4CC0A9EB1}" type="datetimeFigureOut">
              <a:rPr lang="en-US" smtClean="0"/>
              <a:t>7/20/2025</a:t>
            </a:fld>
            <a:endParaRPr lang="en-US"/>
          </a:p>
        </p:txBody>
      </p:sp>
      <p:sp>
        <p:nvSpPr>
          <p:cNvPr id="3" name="Footer Placeholder 2">
            <a:extLst>
              <a:ext uri="{FF2B5EF4-FFF2-40B4-BE49-F238E27FC236}">
                <a16:creationId xmlns:a16="http://schemas.microsoft.com/office/drawing/2014/main" id="{D05C3BD0-269D-4127-B5F7-84B0D8A742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623447-C740-4495-93EC-7252B1B929E4}"/>
              </a:ext>
            </a:extLst>
          </p:cNvPr>
          <p:cNvSpPr>
            <a:spLocks noGrp="1"/>
          </p:cNvSpPr>
          <p:nvPr>
            <p:ph type="sldNum" sz="quarter" idx="12"/>
          </p:nvPr>
        </p:nvSpPr>
        <p:spPr/>
        <p:txBody>
          <a:bodyPr/>
          <a:lstStyle/>
          <a:p>
            <a:fld id="{6CB39E08-E0E5-4B1A-8F7D-08FE7678A3B6}" type="slidenum">
              <a:rPr lang="en-US" smtClean="0"/>
              <a:t>‹Nº›</a:t>
            </a:fld>
            <a:endParaRPr lang="en-US"/>
          </a:p>
        </p:txBody>
      </p:sp>
    </p:spTree>
    <p:extLst>
      <p:ext uri="{BB962C8B-B14F-4D97-AF65-F5344CB8AC3E}">
        <p14:creationId xmlns:p14="http://schemas.microsoft.com/office/powerpoint/2010/main" val="410753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D1155-71E7-4F0A-BB62-933743CF6EDD}"/>
              </a:ext>
            </a:extLst>
          </p:cNvPr>
          <p:cNvSpPr>
            <a:spLocks noGrp="1"/>
          </p:cNvSpPr>
          <p:nvPr>
            <p:ph type="title"/>
          </p:nvPr>
        </p:nvSpPr>
        <p:spPr>
          <a:xfrm>
            <a:off x="548640" y="952500"/>
            <a:ext cx="4124084" cy="2362200"/>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E0CB6D44-5A1E-4176-8766-4B81E045D50A}"/>
              </a:ext>
            </a:extLst>
          </p:cNvPr>
          <p:cNvSpPr>
            <a:spLocks noGrp="1"/>
          </p:cNvSpPr>
          <p:nvPr>
            <p:ph idx="1"/>
          </p:nvPr>
        </p:nvSpPr>
        <p:spPr>
          <a:xfrm>
            <a:off x="5600700" y="952500"/>
            <a:ext cx="5934074" cy="49085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8C810EC6-11DD-4B5D-A2D2-4DCF73E58389}"/>
              </a:ext>
            </a:extLst>
          </p:cNvPr>
          <p:cNvSpPr>
            <a:spLocks noGrp="1"/>
          </p:cNvSpPr>
          <p:nvPr>
            <p:ph type="body" sz="half" idx="2"/>
          </p:nvPr>
        </p:nvSpPr>
        <p:spPr>
          <a:xfrm>
            <a:off x="548641" y="3429000"/>
            <a:ext cx="4124084" cy="24399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CD5DFCDF-666E-4DB4-A1C0-79D40A007066}"/>
              </a:ext>
            </a:extLst>
          </p:cNvPr>
          <p:cNvSpPr>
            <a:spLocks noGrp="1"/>
          </p:cNvSpPr>
          <p:nvPr>
            <p:ph type="dt" sz="half" idx="10"/>
          </p:nvPr>
        </p:nvSpPr>
        <p:spPr/>
        <p:txBody>
          <a:bodyPr/>
          <a:lstStyle/>
          <a:p>
            <a:fld id="{4CDE23C7-78A4-413A-A84B-93D4CC0A9EB1}" type="datetimeFigureOut">
              <a:rPr lang="en-US" smtClean="0"/>
              <a:t>7/20/2025</a:t>
            </a:fld>
            <a:endParaRPr lang="en-US"/>
          </a:p>
        </p:txBody>
      </p:sp>
      <p:sp>
        <p:nvSpPr>
          <p:cNvPr id="6" name="Footer Placeholder 5">
            <a:extLst>
              <a:ext uri="{FF2B5EF4-FFF2-40B4-BE49-F238E27FC236}">
                <a16:creationId xmlns:a16="http://schemas.microsoft.com/office/drawing/2014/main" id="{083A69AC-15E6-4B19-A59D-DBDBE923DB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79F0EE-74DE-4FEC-81E9-E40D53397857}"/>
              </a:ext>
            </a:extLst>
          </p:cNvPr>
          <p:cNvSpPr>
            <a:spLocks noGrp="1"/>
          </p:cNvSpPr>
          <p:nvPr>
            <p:ph type="sldNum" sz="quarter" idx="12"/>
          </p:nvPr>
        </p:nvSpPr>
        <p:spPr/>
        <p:txBody>
          <a:bodyPr/>
          <a:lstStyle/>
          <a:p>
            <a:fld id="{6CB39E08-E0E5-4B1A-8F7D-08FE7678A3B6}" type="slidenum">
              <a:rPr lang="en-US" smtClean="0"/>
              <a:t>‹Nº›</a:t>
            </a:fld>
            <a:endParaRPr lang="en-US"/>
          </a:p>
        </p:txBody>
      </p:sp>
    </p:spTree>
    <p:extLst>
      <p:ext uri="{BB962C8B-B14F-4D97-AF65-F5344CB8AC3E}">
        <p14:creationId xmlns:p14="http://schemas.microsoft.com/office/powerpoint/2010/main" val="2381185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3CA4F-6508-4AD6-8367-A0288D888DD6}"/>
              </a:ext>
            </a:extLst>
          </p:cNvPr>
          <p:cNvSpPr>
            <a:spLocks noGrp="1"/>
          </p:cNvSpPr>
          <p:nvPr>
            <p:ph type="title"/>
          </p:nvPr>
        </p:nvSpPr>
        <p:spPr>
          <a:xfrm>
            <a:off x="548641" y="952500"/>
            <a:ext cx="4124084" cy="2397918"/>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1906BFCD-2F93-4D99-89EA-F0359FB782B7}"/>
              </a:ext>
            </a:extLst>
          </p:cNvPr>
          <p:cNvSpPr>
            <a:spLocks noGrp="1"/>
          </p:cNvSpPr>
          <p:nvPr>
            <p:ph type="pic" idx="1"/>
          </p:nvPr>
        </p:nvSpPr>
        <p:spPr>
          <a:xfrm>
            <a:off x="5522119" y="987425"/>
            <a:ext cx="6022181"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F4C1F7-1272-41C8-8C29-676316D02D5D}"/>
              </a:ext>
            </a:extLst>
          </p:cNvPr>
          <p:cNvSpPr>
            <a:spLocks noGrp="1"/>
          </p:cNvSpPr>
          <p:nvPr>
            <p:ph type="body" sz="half" idx="2"/>
          </p:nvPr>
        </p:nvSpPr>
        <p:spPr>
          <a:xfrm>
            <a:off x="548641" y="3429000"/>
            <a:ext cx="4124084" cy="24399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A5CDD491-0FE6-4B42-AAA6-B698E46F1A8E}"/>
              </a:ext>
            </a:extLst>
          </p:cNvPr>
          <p:cNvSpPr>
            <a:spLocks noGrp="1"/>
          </p:cNvSpPr>
          <p:nvPr>
            <p:ph type="dt" sz="half" idx="10"/>
          </p:nvPr>
        </p:nvSpPr>
        <p:spPr/>
        <p:txBody>
          <a:bodyPr/>
          <a:lstStyle/>
          <a:p>
            <a:fld id="{4CDE23C7-78A4-413A-A84B-93D4CC0A9EB1}" type="datetimeFigureOut">
              <a:rPr lang="en-US" smtClean="0"/>
              <a:t>7/20/2025</a:t>
            </a:fld>
            <a:endParaRPr lang="en-US"/>
          </a:p>
        </p:txBody>
      </p:sp>
      <p:sp>
        <p:nvSpPr>
          <p:cNvPr id="6" name="Footer Placeholder 5">
            <a:extLst>
              <a:ext uri="{FF2B5EF4-FFF2-40B4-BE49-F238E27FC236}">
                <a16:creationId xmlns:a16="http://schemas.microsoft.com/office/drawing/2014/main" id="{D258F83F-4E9F-4607-A69B-DFC932560A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324484-C6E4-4D8A-BDAB-09B1FBB43631}"/>
              </a:ext>
            </a:extLst>
          </p:cNvPr>
          <p:cNvSpPr>
            <a:spLocks noGrp="1"/>
          </p:cNvSpPr>
          <p:nvPr>
            <p:ph type="sldNum" sz="quarter" idx="12"/>
          </p:nvPr>
        </p:nvSpPr>
        <p:spPr/>
        <p:txBody>
          <a:bodyPr/>
          <a:lstStyle/>
          <a:p>
            <a:fld id="{6CB39E08-E0E5-4B1A-8F7D-08FE7678A3B6}" type="slidenum">
              <a:rPr lang="en-US" smtClean="0"/>
              <a:t>‹Nº›</a:t>
            </a:fld>
            <a:endParaRPr lang="en-US"/>
          </a:p>
        </p:txBody>
      </p:sp>
    </p:spTree>
    <p:extLst>
      <p:ext uri="{BB962C8B-B14F-4D97-AF65-F5344CB8AC3E}">
        <p14:creationId xmlns:p14="http://schemas.microsoft.com/office/powerpoint/2010/main" val="2906590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07F1B-6F93-4E6E-8C8C-D01A9DEB6A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7D2968-FE85-492F-A77B-1771F4EAA8C6}"/>
              </a:ext>
            </a:extLst>
          </p:cNvPr>
          <p:cNvSpPr>
            <a:spLocks noGrp="1"/>
          </p:cNvSpPr>
          <p:nvPr>
            <p:ph type="body" orient="vert" idx="1"/>
          </p:nvPr>
        </p:nvSpPr>
        <p:spPr>
          <a:xfrm>
            <a:off x="548641" y="2028826"/>
            <a:ext cx="11094348" cy="402907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4592DA2-B1FB-45C6-B10C-141AC2BFB381}"/>
              </a:ext>
            </a:extLst>
          </p:cNvPr>
          <p:cNvSpPr>
            <a:spLocks noGrp="1"/>
          </p:cNvSpPr>
          <p:nvPr>
            <p:ph type="dt" sz="half" idx="10"/>
          </p:nvPr>
        </p:nvSpPr>
        <p:spPr/>
        <p:txBody>
          <a:bodyPr/>
          <a:lstStyle/>
          <a:p>
            <a:fld id="{4CDE23C7-78A4-413A-A84B-93D4CC0A9EB1}" type="datetimeFigureOut">
              <a:rPr lang="en-US" smtClean="0"/>
              <a:t>7/20/2025</a:t>
            </a:fld>
            <a:endParaRPr lang="en-US"/>
          </a:p>
        </p:txBody>
      </p:sp>
      <p:sp>
        <p:nvSpPr>
          <p:cNvPr id="5" name="Footer Placeholder 4">
            <a:extLst>
              <a:ext uri="{FF2B5EF4-FFF2-40B4-BE49-F238E27FC236}">
                <a16:creationId xmlns:a16="http://schemas.microsoft.com/office/drawing/2014/main" id="{18CA6D78-CE47-4CA7-B3B6-AFAE5175F6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EDC5C0-8780-4819-A8FC-32A0141D271C}"/>
              </a:ext>
            </a:extLst>
          </p:cNvPr>
          <p:cNvSpPr>
            <a:spLocks noGrp="1"/>
          </p:cNvSpPr>
          <p:nvPr>
            <p:ph type="sldNum" sz="quarter" idx="12"/>
          </p:nvPr>
        </p:nvSpPr>
        <p:spPr/>
        <p:txBody>
          <a:bodyPr/>
          <a:lstStyle/>
          <a:p>
            <a:fld id="{6CB39E08-E0E5-4B1A-8F7D-08FE7678A3B6}" type="slidenum">
              <a:rPr lang="en-US" smtClean="0"/>
              <a:t>‹Nº›</a:t>
            </a:fld>
            <a:endParaRPr lang="en-US"/>
          </a:p>
        </p:txBody>
      </p:sp>
    </p:spTree>
    <p:extLst>
      <p:ext uri="{BB962C8B-B14F-4D97-AF65-F5344CB8AC3E}">
        <p14:creationId xmlns:p14="http://schemas.microsoft.com/office/powerpoint/2010/main" val="411318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B8F9A8-05F2-4F79-B689-1FA2F31965D8}"/>
              </a:ext>
            </a:extLst>
          </p:cNvPr>
          <p:cNvSpPr>
            <a:spLocks noGrp="1"/>
          </p:cNvSpPr>
          <p:nvPr>
            <p:ph type="title" orient="vert"/>
          </p:nvPr>
        </p:nvSpPr>
        <p:spPr>
          <a:xfrm>
            <a:off x="9472612" y="952499"/>
            <a:ext cx="2207417" cy="5105401"/>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05D615BC-61CD-4D59-8E85-B59072E2B22D}"/>
              </a:ext>
            </a:extLst>
          </p:cNvPr>
          <p:cNvSpPr>
            <a:spLocks noGrp="1"/>
          </p:cNvSpPr>
          <p:nvPr>
            <p:ph type="body" orient="vert" idx="1"/>
          </p:nvPr>
        </p:nvSpPr>
        <p:spPr>
          <a:xfrm>
            <a:off x="557924" y="952499"/>
            <a:ext cx="8914688" cy="51054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3F81C46-8CC0-4B79-AF2E-84C86C6A803A}"/>
              </a:ext>
            </a:extLst>
          </p:cNvPr>
          <p:cNvSpPr>
            <a:spLocks noGrp="1"/>
          </p:cNvSpPr>
          <p:nvPr>
            <p:ph type="dt" sz="half" idx="10"/>
          </p:nvPr>
        </p:nvSpPr>
        <p:spPr/>
        <p:txBody>
          <a:bodyPr/>
          <a:lstStyle/>
          <a:p>
            <a:fld id="{4CDE23C7-78A4-413A-A84B-93D4CC0A9EB1}" type="datetimeFigureOut">
              <a:rPr lang="en-US" smtClean="0"/>
              <a:t>7/20/2025</a:t>
            </a:fld>
            <a:endParaRPr lang="en-US"/>
          </a:p>
        </p:txBody>
      </p:sp>
      <p:sp>
        <p:nvSpPr>
          <p:cNvPr id="5" name="Footer Placeholder 4">
            <a:extLst>
              <a:ext uri="{FF2B5EF4-FFF2-40B4-BE49-F238E27FC236}">
                <a16:creationId xmlns:a16="http://schemas.microsoft.com/office/drawing/2014/main" id="{A1A76817-4D29-4888-B68C-A35F5A069C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A0B21A-30A9-4173-9E3F-D985B86A35CE}"/>
              </a:ext>
            </a:extLst>
          </p:cNvPr>
          <p:cNvSpPr>
            <a:spLocks noGrp="1"/>
          </p:cNvSpPr>
          <p:nvPr>
            <p:ph type="sldNum" sz="quarter" idx="12"/>
          </p:nvPr>
        </p:nvSpPr>
        <p:spPr/>
        <p:txBody>
          <a:bodyPr/>
          <a:lstStyle/>
          <a:p>
            <a:fld id="{6CB39E08-E0E5-4B1A-8F7D-08FE7678A3B6}" type="slidenum">
              <a:rPr lang="en-US" smtClean="0"/>
              <a:t>‹Nº›</a:t>
            </a:fld>
            <a:endParaRPr lang="en-US"/>
          </a:p>
        </p:txBody>
      </p:sp>
    </p:spTree>
    <p:extLst>
      <p:ext uri="{BB962C8B-B14F-4D97-AF65-F5344CB8AC3E}">
        <p14:creationId xmlns:p14="http://schemas.microsoft.com/office/powerpoint/2010/main" val="2691102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90E843-90BA-4A7D-8F9F-FFE49387A618}"/>
              </a:ext>
            </a:extLst>
          </p:cNvPr>
          <p:cNvSpPr>
            <a:spLocks noGrp="1"/>
          </p:cNvSpPr>
          <p:nvPr>
            <p:ph type="title"/>
          </p:nvPr>
        </p:nvSpPr>
        <p:spPr>
          <a:xfrm>
            <a:off x="548639" y="950976"/>
            <a:ext cx="10995659" cy="107784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3F7CA62-9B55-49B4-94B6-EAAF7D5AE0DC}"/>
              </a:ext>
            </a:extLst>
          </p:cNvPr>
          <p:cNvSpPr>
            <a:spLocks noGrp="1"/>
          </p:cNvSpPr>
          <p:nvPr>
            <p:ph type="body" idx="1"/>
          </p:nvPr>
        </p:nvSpPr>
        <p:spPr>
          <a:xfrm>
            <a:off x="548641" y="2028826"/>
            <a:ext cx="10995660" cy="402907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93CEA03-AAFA-4A69-A3DA-1DD0EF273F11}"/>
              </a:ext>
            </a:extLst>
          </p:cNvPr>
          <p:cNvSpPr>
            <a:spLocks noGrp="1"/>
          </p:cNvSpPr>
          <p:nvPr>
            <p:ph type="dt" sz="half" idx="2"/>
          </p:nvPr>
        </p:nvSpPr>
        <p:spPr>
          <a:xfrm>
            <a:off x="588729" y="6449535"/>
            <a:ext cx="2983095" cy="308453"/>
          </a:xfrm>
          <a:prstGeom prst="rect">
            <a:avLst/>
          </a:prstGeom>
        </p:spPr>
        <p:txBody>
          <a:bodyPr vert="horz" lIns="91440" tIns="45720" rIns="91440" bIns="45720" rtlCol="0" anchor="t"/>
          <a:lstStyle>
            <a:lvl1pPr algn="l">
              <a:defRPr sz="900">
                <a:solidFill>
                  <a:schemeClr val="tx1"/>
                </a:solidFill>
              </a:defRPr>
            </a:lvl1pPr>
          </a:lstStyle>
          <a:p>
            <a:fld id="{4CDE23C7-78A4-413A-A84B-93D4CC0A9EB1}" type="datetimeFigureOut">
              <a:rPr lang="en-US" smtClean="0"/>
              <a:pPr/>
              <a:t>7/20/2025</a:t>
            </a:fld>
            <a:endParaRPr lang="en-US" dirty="0"/>
          </a:p>
        </p:txBody>
      </p:sp>
      <p:sp>
        <p:nvSpPr>
          <p:cNvPr id="5" name="Footer Placeholder 4">
            <a:extLst>
              <a:ext uri="{FF2B5EF4-FFF2-40B4-BE49-F238E27FC236}">
                <a16:creationId xmlns:a16="http://schemas.microsoft.com/office/drawing/2014/main" id="{F3E97F43-1ECB-4FC2-863E-26CEE24A008A}"/>
              </a:ext>
            </a:extLst>
          </p:cNvPr>
          <p:cNvSpPr>
            <a:spLocks noGrp="1"/>
          </p:cNvSpPr>
          <p:nvPr>
            <p:ph type="ftr" sz="quarter" idx="3"/>
          </p:nvPr>
        </p:nvSpPr>
        <p:spPr>
          <a:xfrm>
            <a:off x="557924" y="173776"/>
            <a:ext cx="411480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53C7F9D8-4B2E-4871-B2AE-EFC06BE23179}"/>
              </a:ext>
            </a:extLst>
          </p:cNvPr>
          <p:cNvSpPr>
            <a:spLocks noGrp="1"/>
          </p:cNvSpPr>
          <p:nvPr>
            <p:ph type="sldNum" sz="quarter" idx="4"/>
          </p:nvPr>
        </p:nvSpPr>
        <p:spPr>
          <a:xfrm>
            <a:off x="10710710" y="6449535"/>
            <a:ext cx="932279" cy="308453"/>
          </a:xfrm>
          <a:prstGeom prst="rect">
            <a:avLst/>
          </a:prstGeom>
        </p:spPr>
        <p:txBody>
          <a:bodyPr vert="horz" lIns="91440" tIns="45720" rIns="91440" bIns="45720" rtlCol="0" anchor="t"/>
          <a:lstStyle>
            <a:lvl1pPr algn="r">
              <a:defRPr sz="900">
                <a:solidFill>
                  <a:schemeClr val="tx1"/>
                </a:solidFill>
              </a:defRPr>
            </a:lvl1pPr>
          </a:lstStyle>
          <a:p>
            <a:fld id="{6CB39E08-E0E5-4B1A-8F7D-08FE7678A3B6}" type="slidenum">
              <a:rPr lang="en-US" smtClean="0"/>
              <a:pPr/>
              <a:t>‹Nº›</a:t>
            </a:fld>
            <a:endParaRPr lang="en-US"/>
          </a:p>
        </p:txBody>
      </p:sp>
      <p:cxnSp>
        <p:nvCxnSpPr>
          <p:cNvPr id="7" name="Straight Connector 6">
            <a:extLst>
              <a:ext uri="{FF2B5EF4-FFF2-40B4-BE49-F238E27FC236}">
                <a16:creationId xmlns:a16="http://schemas.microsoft.com/office/drawing/2014/main" id="{462919E4-C488-4107-9EF1-66152F848008}"/>
              </a:ext>
            </a:extLst>
          </p:cNvPr>
          <p:cNvCxnSpPr>
            <a:cxnSpLocks/>
          </p:cNvCxnSpPr>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BF79732-4088-424C-A653-4534E4389443}"/>
              </a:ext>
            </a:extLst>
          </p:cNvPr>
          <p:cNvCxnSpPr>
            <a:cxnSpLocks/>
          </p:cNvCxnSpPr>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3797456"/>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57" r:id="rId5"/>
    <p:sldLayoutId id="2147483762" r:id="rId6"/>
    <p:sldLayoutId id="2147483758" r:id="rId7"/>
    <p:sldLayoutId id="2147483759" r:id="rId8"/>
    <p:sldLayoutId id="2147483760" r:id="rId9"/>
    <p:sldLayoutId id="2147483761" r:id="rId10"/>
    <p:sldLayoutId id="2147483763" r:id="rId11"/>
  </p:sldLayoutIdLst>
  <p:txStyles>
    <p:titleStyle>
      <a:lvl1pPr algn="l" defTabSz="914400" rtl="0" eaLnBrk="1" latinLnBrk="0" hangingPunct="1">
        <a:lnSpc>
          <a:spcPct val="85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344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TraversaOlazabal" TargetMode="External"/><Relationship Id="rId2" Type="http://schemas.openxmlformats.org/officeDocument/2006/relationships/hyperlink" Target="https://www.linkedin.com/in/alejandro-traversa-olazabal/" TargetMode="Externa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google.com/url?q=https%3A%2F%2Ftraversaolazabal.framer.ai%2F"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TraversaOlazabal" TargetMode="External"/><Relationship Id="rId2" Type="http://schemas.openxmlformats.org/officeDocument/2006/relationships/hyperlink" Target="https://www.linkedin.com/in/alejandro-traversa-olazabal/" TargetMode="Externa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google.com/url?q=https%3A%2F%2Ftraversaolazabal.framer.ai%2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462919E4-C488-4107-9EF1-66152F8480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BF79732-4088-424C-A653-4534E43894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B00A26AB-E1BA-4180-829A-BF134BA81B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EF115D9-B423-4A07-A511-A50BDDE95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adroTexto 4">
            <a:extLst>
              <a:ext uri="{FF2B5EF4-FFF2-40B4-BE49-F238E27FC236}">
                <a16:creationId xmlns:a16="http://schemas.microsoft.com/office/drawing/2014/main" id="{DC6EE7D6-395C-723D-DAEE-D0A1726A5C2C}"/>
              </a:ext>
            </a:extLst>
          </p:cNvPr>
          <p:cNvSpPr txBox="1"/>
          <p:nvPr/>
        </p:nvSpPr>
        <p:spPr>
          <a:xfrm>
            <a:off x="751114" y="631885"/>
            <a:ext cx="4332515" cy="2862322"/>
          </a:xfrm>
          <a:prstGeom prst="rect">
            <a:avLst/>
          </a:prstGeom>
          <a:noFill/>
        </p:spPr>
        <p:txBody>
          <a:bodyPr wrap="square" rtlCol="0">
            <a:spAutoFit/>
          </a:bodyPr>
          <a:lstStyle/>
          <a:p>
            <a:r>
              <a:rPr lang="es-MX" sz="4000" b="1" dirty="0">
                <a:solidFill>
                  <a:schemeClr val="bg1"/>
                </a:solidFill>
                <a:latin typeface="Calibri" panose="020F0502020204030204" pitchFamily="34" charset="0"/>
                <a:ea typeface="Calibri" panose="020F0502020204030204" pitchFamily="34" charset="0"/>
                <a:cs typeface="Calibri" panose="020F0502020204030204" pitchFamily="34" charset="0"/>
              </a:rPr>
              <a:t>CriptoAnalytics: Exploración y Análisis de Datos del Mercado Cripto</a:t>
            </a:r>
          </a:p>
          <a:p>
            <a:endParaRPr lang="es-AR" sz="2000" dirty="0">
              <a:latin typeface="Calibri" panose="020F0502020204030204" pitchFamily="34" charset="0"/>
              <a:ea typeface="Calibri" panose="020F0502020204030204" pitchFamily="34" charset="0"/>
              <a:cs typeface="Calibri" panose="020F0502020204030204" pitchFamily="34" charset="0"/>
            </a:endParaRPr>
          </a:p>
        </p:txBody>
      </p:sp>
      <p:sp>
        <p:nvSpPr>
          <p:cNvPr id="6" name="Rectángulo 5">
            <a:extLst>
              <a:ext uri="{FF2B5EF4-FFF2-40B4-BE49-F238E27FC236}">
                <a16:creationId xmlns:a16="http://schemas.microsoft.com/office/drawing/2014/main" id="{382FCC02-949A-4FCA-FB8A-1F614D0B8278}"/>
              </a:ext>
            </a:extLst>
          </p:cNvPr>
          <p:cNvSpPr/>
          <p:nvPr/>
        </p:nvSpPr>
        <p:spPr>
          <a:xfrm>
            <a:off x="751114" y="5025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Rectángulo 6">
            <a:extLst>
              <a:ext uri="{FF2B5EF4-FFF2-40B4-BE49-F238E27FC236}">
                <a16:creationId xmlns:a16="http://schemas.microsoft.com/office/drawing/2014/main" id="{2BBB16C7-3409-8F66-DA00-821EA062062B}"/>
              </a:ext>
            </a:extLst>
          </p:cNvPr>
          <p:cNvSpPr/>
          <p:nvPr/>
        </p:nvSpPr>
        <p:spPr>
          <a:xfrm>
            <a:off x="7052734" y="63243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CuadroTexto 7">
            <a:extLst>
              <a:ext uri="{FF2B5EF4-FFF2-40B4-BE49-F238E27FC236}">
                <a16:creationId xmlns:a16="http://schemas.microsoft.com/office/drawing/2014/main" id="{9F5D9DE9-C441-37A6-01A6-AC0C97C7206F}"/>
              </a:ext>
            </a:extLst>
          </p:cNvPr>
          <p:cNvSpPr txBox="1"/>
          <p:nvPr/>
        </p:nvSpPr>
        <p:spPr>
          <a:xfrm>
            <a:off x="6977744" y="3915809"/>
            <a:ext cx="5094514" cy="2431435"/>
          </a:xfrm>
          <a:prstGeom prst="rect">
            <a:avLst/>
          </a:prstGeom>
          <a:noFill/>
        </p:spPr>
        <p:txBody>
          <a:bodyPr wrap="square" rtlCol="0">
            <a:spAutoFit/>
          </a:bodyPr>
          <a:lstStyle/>
          <a:p>
            <a:r>
              <a:rPr lang="es-AR" sz="2000" b="1" dirty="0">
                <a:solidFill>
                  <a:schemeClr val="bg1"/>
                </a:solidFill>
              </a:rPr>
              <a:t>Autor: Alejandro Traversa Olazabal </a:t>
            </a:r>
            <a:r>
              <a:rPr lang="es-AR" sz="1400" dirty="0"/>
              <a:t>🧑🏻‍💻</a:t>
            </a:r>
            <a:endParaRPr lang="es-AR" sz="2000" b="1" dirty="0">
              <a:solidFill>
                <a:schemeClr val="bg1"/>
              </a:solidFill>
            </a:endParaRPr>
          </a:p>
          <a:p>
            <a:br>
              <a:rPr lang="es-AR" sz="1400" dirty="0">
                <a:solidFill>
                  <a:schemeClr val="bg1"/>
                </a:solidFill>
              </a:rPr>
            </a:br>
            <a:r>
              <a:rPr lang="es-AR" sz="1400" dirty="0">
                <a:solidFill>
                  <a:schemeClr val="bg1"/>
                </a:solidFill>
              </a:rPr>
              <a:t>🔗 </a:t>
            </a:r>
            <a:r>
              <a:rPr lang="es-AR" sz="1400" dirty="0">
                <a:solidFill>
                  <a:schemeClr val="bg1"/>
                </a:solidFill>
                <a:hlinkClick r:id="rId2">
                  <a:extLst>
                    <a:ext uri="{A12FA001-AC4F-418D-AE19-62706E023703}">
                      <ahyp:hlinkClr xmlns:ahyp="http://schemas.microsoft.com/office/drawing/2018/hyperlinkcolor" val="tx"/>
                    </a:ext>
                  </a:extLst>
                </a:hlinkClick>
              </a:rPr>
              <a:t>https://www.linkedin.com/in/alejandro-traversa-olazabal/</a:t>
            </a:r>
            <a:endParaRPr lang="es-AR" sz="1400" dirty="0">
              <a:solidFill>
                <a:schemeClr val="bg1"/>
              </a:solidFill>
            </a:endParaRPr>
          </a:p>
          <a:p>
            <a:br>
              <a:rPr lang="es-AR" sz="1400" dirty="0">
                <a:solidFill>
                  <a:schemeClr val="bg1"/>
                </a:solidFill>
              </a:rPr>
            </a:br>
            <a:r>
              <a:rPr lang="es-AR" sz="1400" dirty="0">
                <a:solidFill>
                  <a:schemeClr val="bg1"/>
                </a:solidFill>
              </a:rPr>
              <a:t>🔗 </a:t>
            </a:r>
            <a:r>
              <a:rPr lang="es-AR" sz="1400" dirty="0">
                <a:solidFill>
                  <a:schemeClr val="bg1"/>
                </a:solidFill>
                <a:hlinkClick r:id="rId3">
                  <a:extLst>
                    <a:ext uri="{A12FA001-AC4F-418D-AE19-62706E023703}">
                      <ahyp:hlinkClr xmlns:ahyp="http://schemas.microsoft.com/office/drawing/2018/hyperlinkcolor" val="tx"/>
                    </a:ext>
                  </a:extLst>
                </a:hlinkClick>
              </a:rPr>
              <a:t>https://github.com/TraversaOlazabal</a:t>
            </a:r>
            <a:endParaRPr lang="es-AR" sz="1400" dirty="0">
              <a:solidFill>
                <a:schemeClr val="bg1"/>
              </a:solidFill>
            </a:endParaRPr>
          </a:p>
          <a:p>
            <a:endParaRPr lang="es-AR" sz="1400" dirty="0">
              <a:solidFill>
                <a:schemeClr val="bg1"/>
              </a:solidFill>
            </a:endParaRPr>
          </a:p>
          <a:p>
            <a:r>
              <a:rPr lang="es-AR" sz="1400" dirty="0">
                <a:solidFill>
                  <a:schemeClr val="bg1"/>
                </a:solidFill>
              </a:rPr>
              <a:t>🔗 </a:t>
            </a:r>
            <a:r>
              <a:rPr lang="es-AR" sz="1400" dirty="0">
                <a:solidFill>
                  <a:schemeClr val="bg1"/>
                </a:solidFill>
                <a:hlinkClick r:id="rId4">
                  <a:extLst>
                    <a:ext uri="{A12FA001-AC4F-418D-AE19-62706E023703}">
                      <ahyp:hlinkClr xmlns:ahyp="http://schemas.microsoft.com/office/drawing/2018/hyperlinkcolor" val="tx"/>
                    </a:ext>
                  </a:extLst>
                </a:hlinkClick>
              </a:rPr>
              <a:t>https://traversaolazabal.framer.ai/</a:t>
            </a:r>
            <a:endParaRPr lang="es-AR" sz="1400" dirty="0">
              <a:solidFill>
                <a:schemeClr val="bg1"/>
              </a:solidFill>
            </a:endParaRPr>
          </a:p>
          <a:p>
            <a:endParaRPr lang="es-AR" sz="1400" dirty="0">
              <a:solidFill>
                <a:schemeClr val="bg1"/>
              </a:solidFill>
            </a:endParaRPr>
          </a:p>
          <a:p>
            <a:r>
              <a:rPr lang="es-AR" sz="1400" dirty="0">
                <a:solidFill>
                  <a:schemeClr val="bg1"/>
                </a:solidFill>
              </a:rPr>
              <a:t>Data </a:t>
            </a:r>
            <a:r>
              <a:rPr lang="es-AR" sz="1400" dirty="0" err="1">
                <a:solidFill>
                  <a:schemeClr val="bg1"/>
                </a:solidFill>
              </a:rPr>
              <a:t>Science</a:t>
            </a:r>
            <a:r>
              <a:rPr lang="es-AR" sz="1400" dirty="0">
                <a:solidFill>
                  <a:schemeClr val="bg1"/>
                </a:solidFill>
              </a:rPr>
              <a:t> II – Comisión 75690</a:t>
            </a:r>
          </a:p>
          <a:p>
            <a:endParaRPr lang="es-AR" sz="2000" dirty="0">
              <a:latin typeface="Calibri" panose="020F0502020204030204" pitchFamily="34" charset="0"/>
              <a:ea typeface="Calibri" panose="020F0502020204030204" pitchFamily="34" charset="0"/>
              <a:cs typeface="Calibri" panose="020F0502020204030204" pitchFamily="34" charset="0"/>
            </a:endParaRPr>
          </a:p>
        </p:txBody>
      </p:sp>
      <p:pic>
        <p:nvPicPr>
          <p:cNvPr id="16" name="Imagen 15" descr="Forma&#10;&#10;El contenido generado por IA puede ser incorrecto.">
            <a:extLst>
              <a:ext uri="{FF2B5EF4-FFF2-40B4-BE49-F238E27FC236}">
                <a16:creationId xmlns:a16="http://schemas.microsoft.com/office/drawing/2014/main" id="{A636D1DB-CD6A-3B3B-F399-02582DCB3E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3467" y="3637863"/>
            <a:ext cx="2459377" cy="2459377"/>
          </a:xfrm>
          <a:prstGeom prst="rect">
            <a:avLst/>
          </a:prstGeom>
        </p:spPr>
      </p:pic>
      <p:pic>
        <p:nvPicPr>
          <p:cNvPr id="19" name="Imagen 18" descr="Icono&#10;&#10;El contenido generado por IA puede ser incorrecto.">
            <a:extLst>
              <a:ext uri="{FF2B5EF4-FFF2-40B4-BE49-F238E27FC236}">
                <a16:creationId xmlns:a16="http://schemas.microsoft.com/office/drawing/2014/main" id="{CEFA2238-BB2F-9010-2275-35F59067B37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17371" y="3605533"/>
            <a:ext cx="2491707" cy="2491707"/>
          </a:xfrm>
          <a:prstGeom prst="rect">
            <a:avLst/>
          </a:prstGeom>
        </p:spPr>
      </p:pic>
    </p:spTree>
    <p:extLst>
      <p:ext uri="{BB962C8B-B14F-4D97-AF65-F5344CB8AC3E}">
        <p14:creationId xmlns:p14="http://schemas.microsoft.com/office/powerpoint/2010/main" val="2233101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9064B0-268E-2E0C-53B8-3D3524FE0BE5}"/>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C2E07A50-91F4-C8CE-21FF-93688D32A4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135C1F8-8F91-4807-9ECC-071E74FAC3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140A2BFB-C820-14C8-2C4E-192E07E30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C3A1DA4-A340-4306-1792-8332131C2C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adroTexto 4">
            <a:extLst>
              <a:ext uri="{FF2B5EF4-FFF2-40B4-BE49-F238E27FC236}">
                <a16:creationId xmlns:a16="http://schemas.microsoft.com/office/drawing/2014/main" id="{AF58E573-F248-7ECC-AC50-1A2920138064}"/>
              </a:ext>
            </a:extLst>
          </p:cNvPr>
          <p:cNvSpPr txBox="1"/>
          <p:nvPr/>
        </p:nvSpPr>
        <p:spPr>
          <a:xfrm>
            <a:off x="751114" y="3528165"/>
            <a:ext cx="9797143" cy="2308324"/>
          </a:xfrm>
          <a:prstGeom prst="rect">
            <a:avLst/>
          </a:prstGeom>
          <a:noFill/>
        </p:spPr>
        <p:txBody>
          <a:bodyPr wrap="square" rtlCol="0">
            <a:spAutoFit/>
          </a:bodyPr>
          <a:lstStyle/>
          <a:p>
            <a:r>
              <a:rPr lang="es-MX" sz="2400" dirty="0"/>
              <a:t>👤💼🎓📊🧠🏢 </a:t>
            </a:r>
            <a:r>
              <a:rPr lang="es-MX" sz="2400" dirty="0">
                <a:solidFill>
                  <a:schemeClr val="bg1"/>
                </a:solidFill>
              </a:rPr>
              <a:t>Audiencia</a:t>
            </a:r>
          </a:p>
          <a:p>
            <a:br>
              <a:rPr lang="es-MX" sz="2400" dirty="0"/>
            </a:br>
            <a:r>
              <a:rPr lang="es-MX" sz="2400" dirty="0">
                <a:solidFill>
                  <a:schemeClr val="bg1"/>
                </a:solidFill>
              </a:rPr>
              <a:t>Este análisis está diseñado para ayudar a un público amplio: desde inversores individuales y profesionales financieros, hasta estudiantes, analistas y tomadores de decisión en empresas que consideran las criptomonedas como una alternativa estratégica.</a:t>
            </a:r>
            <a:endParaRPr lang="es-AR"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Rectángulo 5">
            <a:extLst>
              <a:ext uri="{FF2B5EF4-FFF2-40B4-BE49-F238E27FC236}">
                <a16:creationId xmlns:a16="http://schemas.microsoft.com/office/drawing/2014/main" id="{C13C775B-1652-04EE-F806-0A10D32E6A46}"/>
              </a:ext>
            </a:extLst>
          </p:cNvPr>
          <p:cNvSpPr/>
          <p:nvPr/>
        </p:nvSpPr>
        <p:spPr>
          <a:xfrm>
            <a:off x="751114" y="5025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Rectángulo 6">
            <a:extLst>
              <a:ext uri="{FF2B5EF4-FFF2-40B4-BE49-F238E27FC236}">
                <a16:creationId xmlns:a16="http://schemas.microsoft.com/office/drawing/2014/main" id="{FC0BDEC8-C999-AB78-BE78-B44036AD8528}"/>
              </a:ext>
            </a:extLst>
          </p:cNvPr>
          <p:cNvSpPr/>
          <p:nvPr/>
        </p:nvSpPr>
        <p:spPr>
          <a:xfrm>
            <a:off x="7052734" y="63243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CuadroTexto 1">
            <a:extLst>
              <a:ext uri="{FF2B5EF4-FFF2-40B4-BE49-F238E27FC236}">
                <a16:creationId xmlns:a16="http://schemas.microsoft.com/office/drawing/2014/main" id="{FA889B72-5E45-87E1-357D-B3C9AD964003}"/>
              </a:ext>
            </a:extLst>
          </p:cNvPr>
          <p:cNvSpPr txBox="1"/>
          <p:nvPr/>
        </p:nvSpPr>
        <p:spPr>
          <a:xfrm>
            <a:off x="751114" y="746635"/>
            <a:ext cx="9797143" cy="2308324"/>
          </a:xfrm>
          <a:prstGeom prst="rect">
            <a:avLst/>
          </a:prstGeom>
          <a:noFill/>
        </p:spPr>
        <p:txBody>
          <a:bodyPr wrap="square" rtlCol="0">
            <a:spAutoFit/>
          </a:bodyPr>
          <a:lstStyle/>
          <a:p>
            <a:r>
              <a:rPr lang="es-MX" sz="2400" dirty="0">
                <a:solidFill>
                  <a:schemeClr val="bg1"/>
                </a:solidFill>
              </a:rPr>
              <a:t>🎯 Objetivo</a:t>
            </a:r>
          </a:p>
          <a:p>
            <a:br>
              <a:rPr lang="es-MX" sz="2400" dirty="0">
                <a:solidFill>
                  <a:schemeClr val="bg1"/>
                </a:solidFill>
              </a:rPr>
            </a:br>
            <a:r>
              <a:rPr lang="es-MX" sz="2400" dirty="0">
                <a:solidFill>
                  <a:schemeClr val="bg1"/>
                </a:solidFill>
              </a:rPr>
              <a:t>El objetivo de este trabajo es realizar un análisis exploratorio y predictivo del mercado de criptomonedas, utilizando un conjunto de datos que combina información histórica y actual de las principales </a:t>
            </a:r>
            <a:r>
              <a:rPr lang="es-MX" sz="2400" dirty="0" err="1">
                <a:solidFill>
                  <a:schemeClr val="bg1"/>
                </a:solidFill>
              </a:rPr>
              <a:t>criptos</a:t>
            </a:r>
            <a:r>
              <a:rPr lang="es-MX" sz="2400" dirty="0">
                <a:solidFill>
                  <a:schemeClr val="bg1"/>
                </a:solidFill>
              </a:rPr>
              <a:t> por capitalización de mercado.</a:t>
            </a:r>
          </a:p>
        </p:txBody>
      </p:sp>
      <p:pic>
        <p:nvPicPr>
          <p:cNvPr id="4" name="Imagen 3" descr="Logotipo, Icono&#10;&#10;El contenido generado por IA puede ser incorrecto.">
            <a:extLst>
              <a:ext uri="{FF2B5EF4-FFF2-40B4-BE49-F238E27FC236}">
                <a16:creationId xmlns:a16="http://schemas.microsoft.com/office/drawing/2014/main" id="{B2A68626-AC24-CB3A-A24A-7088EAB1FB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64813" y="198331"/>
            <a:ext cx="2033448" cy="2033448"/>
          </a:xfrm>
          <a:prstGeom prst="rect">
            <a:avLst/>
          </a:prstGeom>
        </p:spPr>
      </p:pic>
    </p:spTree>
    <p:extLst>
      <p:ext uri="{BB962C8B-B14F-4D97-AF65-F5344CB8AC3E}">
        <p14:creationId xmlns:p14="http://schemas.microsoft.com/office/powerpoint/2010/main" val="2201741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962082-C0EE-530A-345D-B5F733CF1F8D}"/>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FC3CBBF4-9313-4D52-6EEA-6EF152AF45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C690ED7-933B-91ED-45D2-71106D4B57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758C2208-7DA2-D79F-0063-C492CB546B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FDA40A5-576F-24E6-42FF-F1623231E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DBD2A29B-4147-8D47-5887-492C9F88A5B0}"/>
              </a:ext>
            </a:extLst>
          </p:cNvPr>
          <p:cNvSpPr/>
          <p:nvPr/>
        </p:nvSpPr>
        <p:spPr>
          <a:xfrm>
            <a:off x="751114" y="5025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Rectángulo 6">
            <a:extLst>
              <a:ext uri="{FF2B5EF4-FFF2-40B4-BE49-F238E27FC236}">
                <a16:creationId xmlns:a16="http://schemas.microsoft.com/office/drawing/2014/main" id="{48B1B080-F39E-1B95-134E-9F9312287B42}"/>
              </a:ext>
            </a:extLst>
          </p:cNvPr>
          <p:cNvSpPr/>
          <p:nvPr/>
        </p:nvSpPr>
        <p:spPr>
          <a:xfrm>
            <a:off x="7052734" y="63243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CuadroTexto 1">
            <a:extLst>
              <a:ext uri="{FF2B5EF4-FFF2-40B4-BE49-F238E27FC236}">
                <a16:creationId xmlns:a16="http://schemas.microsoft.com/office/drawing/2014/main" id="{8CAE097D-0919-DE1E-847B-4E1B089C9B23}"/>
              </a:ext>
            </a:extLst>
          </p:cNvPr>
          <p:cNvSpPr txBox="1"/>
          <p:nvPr/>
        </p:nvSpPr>
        <p:spPr>
          <a:xfrm>
            <a:off x="751114" y="636789"/>
            <a:ext cx="3548742" cy="769441"/>
          </a:xfrm>
          <a:prstGeom prst="rect">
            <a:avLst/>
          </a:prstGeom>
          <a:noFill/>
        </p:spPr>
        <p:txBody>
          <a:bodyPr wrap="square" rtlCol="0">
            <a:spAutoFit/>
          </a:bodyPr>
          <a:lstStyle/>
          <a:p>
            <a:r>
              <a:rPr lang="es-MX" sz="4400" b="1" dirty="0">
                <a:solidFill>
                  <a:schemeClr val="bg1"/>
                </a:solidFill>
              </a:rPr>
              <a:t>METADATA</a:t>
            </a:r>
          </a:p>
        </p:txBody>
      </p:sp>
      <p:pic>
        <p:nvPicPr>
          <p:cNvPr id="13" name="Imagen 12" descr="Icono&#10;&#10;El contenido generado por IA puede ser incorrecto.">
            <a:extLst>
              <a:ext uri="{FF2B5EF4-FFF2-40B4-BE49-F238E27FC236}">
                <a16:creationId xmlns:a16="http://schemas.microsoft.com/office/drawing/2014/main" id="{20FDBF8B-567E-914F-092F-E557DA42D7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48407" y="227416"/>
            <a:ext cx="2005574" cy="2005574"/>
          </a:xfrm>
          <a:prstGeom prst="rect">
            <a:avLst/>
          </a:prstGeom>
        </p:spPr>
      </p:pic>
      <p:sp>
        <p:nvSpPr>
          <p:cNvPr id="4" name="Rectangle 1">
            <a:extLst>
              <a:ext uri="{FF2B5EF4-FFF2-40B4-BE49-F238E27FC236}">
                <a16:creationId xmlns:a16="http://schemas.microsoft.com/office/drawing/2014/main" id="{75542E5D-5ABB-ADAC-A0D9-D0964B2A7E0E}"/>
              </a:ext>
            </a:extLst>
          </p:cNvPr>
          <p:cNvSpPr>
            <a:spLocks noChangeArrowheads="1"/>
          </p:cNvSpPr>
          <p:nvPr/>
        </p:nvSpPr>
        <p:spPr bwMode="auto">
          <a:xfrm>
            <a:off x="643467" y="1780470"/>
            <a:ext cx="3576492"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4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Criptomonedas Analizadas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s-AR" altLang="es-AR" sz="24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Bitcoin </a:t>
            </a:r>
            <a:endParaRPr lang="es-AR" altLang="es-AR"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s-AR" altLang="es-AR" sz="24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Ethereum</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s-AR" altLang="es-AR" sz="2400" b="0" i="0" u="none" strike="noStrike" cap="none" normalizeH="0" baseline="0" dirty="0" err="1">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Binance</a:t>
            </a:r>
            <a:r>
              <a:rPr kumimoji="0" lang="es-AR" altLang="es-AR" sz="24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kumimoji="0" lang="es-AR" altLang="es-AR" sz="2400" b="0" i="0" u="none" strike="noStrike" cap="none" normalizeH="0" baseline="0" dirty="0" err="1">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Coin</a:t>
            </a:r>
            <a:endParaRPr lang="es-AR" altLang="es-AR"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s-AR" altLang="es-AR" sz="24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Solana</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s-AR" altLang="es-AR" sz="2400" b="0" i="0" u="none" strike="noStrike" cap="none" normalizeH="0" baseline="0" dirty="0" err="1">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Dogecoin</a:t>
            </a:r>
            <a:endParaRPr lang="es-AR" altLang="es-AR"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s-AR" altLang="es-AR" sz="24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Cardano</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s-AR" altLang="es-AR" sz="2400" b="0" i="0" u="none" strike="noStrike" cap="none" normalizeH="0" baseline="0" dirty="0" err="1">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Ripple</a:t>
            </a:r>
            <a:endParaRPr lang="es-AR" altLang="es-AR"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s-AR" altLang="es-AR" sz="2400" b="0" i="0" u="none" strike="noStrike" cap="none" normalizeH="0" baseline="0" dirty="0" err="1">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Polkadot</a:t>
            </a:r>
            <a:endParaRPr lang="es-AR" altLang="es-AR"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s-AR" altLang="es-AR" sz="2400" b="0" i="0" u="none" strike="noStrike" cap="none" normalizeH="0" baseline="0" dirty="0" err="1">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Litecoin</a:t>
            </a:r>
            <a:endParaRPr lang="es-AR" altLang="es-AR"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s-AR" altLang="es-AR" sz="24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TRON</a:t>
            </a:r>
            <a:endParaRPr kumimoji="0" lang="es-AR" altLang="es-AR" sz="1800" b="0" i="0" u="none" strike="noStrike" cap="none" normalizeH="0" baseline="0" dirty="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id="{592CB8C0-15DF-7F4C-9923-8E3BC9ACC229}"/>
              </a:ext>
            </a:extLst>
          </p:cNvPr>
          <p:cNvSpPr>
            <a:spLocks noChangeArrowheads="1"/>
          </p:cNvSpPr>
          <p:nvPr/>
        </p:nvSpPr>
        <p:spPr bwMode="auto">
          <a:xfrm>
            <a:off x="5087013" y="1950745"/>
            <a:ext cx="573041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buFontTx/>
              <a:buChar char="•"/>
            </a:pPr>
            <a:r>
              <a:rPr lang="es-AR" sz="2400" dirty="0">
                <a:solidFill>
                  <a:schemeClr val="bg1"/>
                </a:solidFill>
                <a:latin typeface="Calibri" panose="020F0502020204030204" pitchFamily="34" charset="0"/>
                <a:ea typeface="Calibri" panose="020F0502020204030204" pitchFamily="34" charset="0"/>
                <a:cs typeface="Calibri" panose="020F0502020204030204" pitchFamily="34" charset="0"/>
              </a:rPr>
              <a:t>Columnas totales: 27</a:t>
            </a:r>
          </a:p>
          <a:p>
            <a:pPr lvl="0" defTabSz="914400" eaLnBrk="0" fontAlgn="base" hangingPunct="0">
              <a:spcBef>
                <a:spcPct val="0"/>
              </a:spcBef>
              <a:spcAft>
                <a:spcPct val="0"/>
              </a:spcAft>
              <a:buFontTx/>
              <a:buChar char="•"/>
            </a:pPr>
            <a:r>
              <a:rPr lang="es-AR" sz="2400" dirty="0">
                <a:solidFill>
                  <a:schemeClr val="bg1"/>
                </a:solidFill>
                <a:latin typeface="Calibri" panose="020F0502020204030204" pitchFamily="34" charset="0"/>
                <a:ea typeface="Calibri" panose="020F0502020204030204" pitchFamily="34" charset="0"/>
                <a:cs typeface="Calibri" panose="020F0502020204030204" pitchFamily="34" charset="0"/>
              </a:rPr>
              <a:t>Registros totales: 3.650</a:t>
            </a:r>
            <a:endParaRPr kumimoji="0" lang="es-AR" altLang="es-AR" sz="240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40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Período cubierto: 365 días de datos diarios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40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Fuente de datos: API pública de CoinGecko</a:t>
            </a:r>
          </a:p>
        </p:txBody>
      </p:sp>
      <p:sp>
        <p:nvSpPr>
          <p:cNvPr id="10" name="Rectangle 7">
            <a:extLst>
              <a:ext uri="{FF2B5EF4-FFF2-40B4-BE49-F238E27FC236}">
                <a16:creationId xmlns:a16="http://schemas.microsoft.com/office/drawing/2014/main" id="{B5478361-4993-7072-1BB6-EAAA7E7D1540}"/>
              </a:ext>
            </a:extLst>
          </p:cNvPr>
          <p:cNvSpPr>
            <a:spLocks noChangeArrowheads="1"/>
          </p:cNvSpPr>
          <p:nvPr/>
        </p:nvSpPr>
        <p:spPr bwMode="auto">
          <a:xfrm>
            <a:off x="5087013" y="3882807"/>
            <a:ext cx="5597494"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4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Tipos de variables: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4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14 columnas numéricas (float64)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4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3 columnas enteras (int64)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4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9 columnas categóricas o de texto (</a:t>
            </a:r>
            <a:r>
              <a:rPr kumimoji="0" lang="es-AR" altLang="es-AR" sz="2400" b="0" i="0" u="none" strike="noStrike" cap="none" normalizeH="0" baseline="0" dirty="0" err="1">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object</a:t>
            </a:r>
            <a:r>
              <a:rPr kumimoji="0" lang="es-AR" altLang="es-AR" sz="24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AR" altLang="es-AR" sz="24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1 columna booleana (</a:t>
            </a:r>
            <a:r>
              <a:rPr kumimoji="0" lang="es-AR" altLang="es-AR" sz="2400" b="0" i="0" u="none" strike="noStrike" cap="none" normalizeH="0" baseline="0" dirty="0" err="1">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bool</a:t>
            </a:r>
            <a:r>
              <a:rPr kumimoji="0" lang="es-AR" altLang="es-AR" sz="24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158602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2F54D4-D829-0A14-DC8F-C5B9F2152669}"/>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D70D441-D778-DDF3-EBC6-670B08712B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BA658B1-1D2F-7CE1-C8CA-F230E5DB36C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FBFCC109-960A-E092-4AE5-FB038255D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C6225CF-BF83-537F-F7FF-6C23B5F9A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C9D046B-FEB0-8FAD-11A7-89142EFC3521}"/>
              </a:ext>
            </a:extLst>
          </p:cNvPr>
          <p:cNvSpPr/>
          <p:nvPr/>
        </p:nvSpPr>
        <p:spPr>
          <a:xfrm>
            <a:off x="751114" y="5025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Rectángulo 6">
            <a:extLst>
              <a:ext uri="{FF2B5EF4-FFF2-40B4-BE49-F238E27FC236}">
                <a16:creationId xmlns:a16="http://schemas.microsoft.com/office/drawing/2014/main" id="{49A172A6-437B-5441-B24B-572B2A1B3490}"/>
              </a:ext>
            </a:extLst>
          </p:cNvPr>
          <p:cNvSpPr/>
          <p:nvPr/>
        </p:nvSpPr>
        <p:spPr>
          <a:xfrm>
            <a:off x="7052734" y="63243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CuadroTexto 1">
            <a:extLst>
              <a:ext uri="{FF2B5EF4-FFF2-40B4-BE49-F238E27FC236}">
                <a16:creationId xmlns:a16="http://schemas.microsoft.com/office/drawing/2014/main" id="{74C3B2F4-B85B-CEBF-AC28-2E588F75D839}"/>
              </a:ext>
            </a:extLst>
          </p:cNvPr>
          <p:cNvSpPr txBox="1"/>
          <p:nvPr/>
        </p:nvSpPr>
        <p:spPr>
          <a:xfrm>
            <a:off x="751114" y="636789"/>
            <a:ext cx="3548742" cy="769441"/>
          </a:xfrm>
          <a:prstGeom prst="rect">
            <a:avLst/>
          </a:prstGeom>
          <a:noFill/>
        </p:spPr>
        <p:txBody>
          <a:bodyPr wrap="square" rtlCol="0">
            <a:spAutoFit/>
          </a:bodyPr>
          <a:lstStyle/>
          <a:p>
            <a:r>
              <a:rPr lang="es-MX" sz="4400" b="1" dirty="0">
                <a:solidFill>
                  <a:schemeClr val="bg1"/>
                </a:solidFill>
              </a:rPr>
              <a:t>METADATA</a:t>
            </a:r>
          </a:p>
        </p:txBody>
      </p:sp>
      <p:graphicFrame>
        <p:nvGraphicFramePr>
          <p:cNvPr id="16" name="Tabla 15">
            <a:extLst>
              <a:ext uri="{FF2B5EF4-FFF2-40B4-BE49-F238E27FC236}">
                <a16:creationId xmlns:a16="http://schemas.microsoft.com/office/drawing/2014/main" id="{1B7AD31A-5F58-E3EE-5D15-979FF9593C38}"/>
              </a:ext>
            </a:extLst>
          </p:cNvPr>
          <p:cNvGraphicFramePr>
            <a:graphicFrameLocks noGrp="1"/>
          </p:cNvGraphicFramePr>
          <p:nvPr>
            <p:extLst>
              <p:ext uri="{D42A27DB-BD31-4B8C-83A1-F6EECF244321}">
                <p14:modId xmlns:p14="http://schemas.microsoft.com/office/powerpoint/2010/main" val="2992585823"/>
              </p:ext>
            </p:extLst>
          </p:nvPr>
        </p:nvGraphicFramePr>
        <p:xfrm>
          <a:off x="751114" y="1779720"/>
          <a:ext cx="8763000" cy="4029514"/>
        </p:xfrm>
        <a:graphic>
          <a:graphicData uri="http://schemas.openxmlformats.org/drawingml/2006/table">
            <a:tbl>
              <a:tblPr/>
              <a:tblGrid>
                <a:gridCol w="3124200">
                  <a:extLst>
                    <a:ext uri="{9D8B030D-6E8A-4147-A177-3AD203B41FA5}">
                      <a16:colId xmlns:a16="http://schemas.microsoft.com/office/drawing/2014/main" val="4150852651"/>
                    </a:ext>
                  </a:extLst>
                </a:gridCol>
                <a:gridCol w="5638800">
                  <a:extLst>
                    <a:ext uri="{9D8B030D-6E8A-4147-A177-3AD203B41FA5}">
                      <a16:colId xmlns:a16="http://schemas.microsoft.com/office/drawing/2014/main" val="2854037521"/>
                    </a:ext>
                  </a:extLst>
                </a:gridCol>
              </a:tblGrid>
              <a:tr h="133193">
                <a:tc>
                  <a:txBody>
                    <a:bodyPr/>
                    <a:lstStyle/>
                    <a:p>
                      <a:pPr algn="l"/>
                      <a:r>
                        <a:rPr lang="es-AR" sz="2000" b="1" u="sng" dirty="0">
                          <a:solidFill>
                            <a:schemeClr val="bg1"/>
                          </a:solidFill>
                        </a:rPr>
                        <a:t>Columna</a:t>
                      </a:r>
                    </a:p>
                  </a:txBody>
                  <a:tcPr marL="33298" marR="33298" marT="16649" marB="16649" anchor="ctr">
                    <a:lnL>
                      <a:noFill/>
                    </a:lnL>
                    <a:lnR>
                      <a:noFill/>
                    </a:lnR>
                    <a:lnT>
                      <a:noFill/>
                    </a:lnT>
                    <a:lnB>
                      <a:noFill/>
                    </a:lnB>
                    <a:noFill/>
                  </a:tcPr>
                </a:tc>
                <a:tc>
                  <a:txBody>
                    <a:bodyPr/>
                    <a:lstStyle/>
                    <a:p>
                      <a:pPr algn="l"/>
                      <a:r>
                        <a:rPr lang="es-AR" sz="2000" b="1" u="sng" dirty="0">
                          <a:solidFill>
                            <a:schemeClr val="bg1"/>
                          </a:solidFill>
                        </a:rPr>
                        <a:t>Descripción</a:t>
                      </a:r>
                    </a:p>
                  </a:txBody>
                  <a:tcPr marL="33298" marR="33298" marT="16649" marB="16649" anchor="ctr">
                    <a:lnL>
                      <a:noFill/>
                    </a:lnL>
                    <a:lnR>
                      <a:noFill/>
                    </a:lnR>
                    <a:lnT>
                      <a:noFill/>
                    </a:lnT>
                    <a:lnB>
                      <a:noFill/>
                    </a:lnB>
                    <a:noFill/>
                  </a:tcPr>
                </a:tc>
                <a:extLst>
                  <a:ext uri="{0D108BD9-81ED-4DB2-BD59-A6C34878D82A}">
                    <a16:rowId xmlns:a16="http://schemas.microsoft.com/office/drawing/2014/main" val="86949624"/>
                  </a:ext>
                </a:extLst>
              </a:tr>
              <a:tr h="133193">
                <a:tc>
                  <a:txBody>
                    <a:bodyPr/>
                    <a:lstStyle/>
                    <a:p>
                      <a:r>
                        <a:rPr lang="es-AR" sz="1800" b="0" dirty="0">
                          <a:solidFill>
                            <a:schemeClr val="bg1"/>
                          </a:solidFill>
                        </a:rPr>
                        <a:t>id</a:t>
                      </a:r>
                    </a:p>
                  </a:txBody>
                  <a:tcPr marL="33298" marR="33298" marT="16649" marB="16649" anchor="ctr">
                    <a:lnL>
                      <a:noFill/>
                    </a:lnL>
                    <a:lnR>
                      <a:noFill/>
                    </a:lnR>
                    <a:lnT>
                      <a:noFill/>
                    </a:lnT>
                    <a:lnB>
                      <a:noFill/>
                    </a:lnB>
                    <a:noFill/>
                  </a:tcPr>
                </a:tc>
                <a:tc>
                  <a:txBody>
                    <a:bodyPr/>
                    <a:lstStyle/>
                    <a:p>
                      <a:r>
                        <a:rPr lang="es-MX" sz="1800" b="0" dirty="0">
                          <a:solidFill>
                            <a:schemeClr val="bg1"/>
                          </a:solidFill>
                        </a:rPr>
                        <a:t>ID único de la criptomoneda según CoinGecko</a:t>
                      </a:r>
                    </a:p>
                  </a:txBody>
                  <a:tcPr marL="33298" marR="33298" marT="16649" marB="16649" anchor="ctr">
                    <a:lnL>
                      <a:noFill/>
                    </a:lnL>
                    <a:lnR>
                      <a:noFill/>
                    </a:lnR>
                    <a:lnT>
                      <a:noFill/>
                    </a:lnT>
                    <a:lnB>
                      <a:noFill/>
                    </a:lnB>
                    <a:noFill/>
                  </a:tcPr>
                </a:tc>
                <a:extLst>
                  <a:ext uri="{0D108BD9-81ED-4DB2-BD59-A6C34878D82A}">
                    <a16:rowId xmlns:a16="http://schemas.microsoft.com/office/drawing/2014/main" val="847504953"/>
                  </a:ext>
                </a:extLst>
              </a:tr>
              <a:tr h="133193">
                <a:tc>
                  <a:txBody>
                    <a:bodyPr/>
                    <a:lstStyle/>
                    <a:p>
                      <a:r>
                        <a:rPr lang="es-AR" sz="1800" b="0" dirty="0">
                          <a:solidFill>
                            <a:schemeClr val="bg1"/>
                          </a:solidFill>
                        </a:rPr>
                        <a:t>symbol</a:t>
                      </a:r>
                    </a:p>
                  </a:txBody>
                  <a:tcPr marL="33298" marR="33298" marT="16649" marB="16649" anchor="ctr">
                    <a:lnL>
                      <a:noFill/>
                    </a:lnL>
                    <a:lnR>
                      <a:noFill/>
                    </a:lnR>
                    <a:lnT>
                      <a:noFill/>
                    </a:lnT>
                    <a:lnB>
                      <a:noFill/>
                    </a:lnB>
                    <a:noFill/>
                  </a:tcPr>
                </a:tc>
                <a:tc>
                  <a:txBody>
                    <a:bodyPr/>
                    <a:lstStyle/>
                    <a:p>
                      <a:r>
                        <a:rPr lang="es-MX" sz="1800" b="0">
                          <a:solidFill>
                            <a:schemeClr val="bg1"/>
                          </a:solidFill>
                        </a:rPr>
                        <a:t>Símbolo o ticker de la criptomoneda (ej. BTC, ETH)</a:t>
                      </a:r>
                    </a:p>
                  </a:txBody>
                  <a:tcPr marL="33298" marR="33298" marT="16649" marB="16649" anchor="ctr">
                    <a:lnL>
                      <a:noFill/>
                    </a:lnL>
                    <a:lnR>
                      <a:noFill/>
                    </a:lnR>
                    <a:lnT>
                      <a:noFill/>
                    </a:lnT>
                    <a:lnB>
                      <a:noFill/>
                    </a:lnB>
                    <a:noFill/>
                  </a:tcPr>
                </a:tc>
                <a:extLst>
                  <a:ext uri="{0D108BD9-81ED-4DB2-BD59-A6C34878D82A}">
                    <a16:rowId xmlns:a16="http://schemas.microsoft.com/office/drawing/2014/main" val="3702487608"/>
                  </a:ext>
                </a:extLst>
              </a:tr>
              <a:tr h="133193">
                <a:tc>
                  <a:txBody>
                    <a:bodyPr/>
                    <a:lstStyle/>
                    <a:p>
                      <a:r>
                        <a:rPr lang="es-AR" sz="1800" b="0" dirty="0" err="1">
                          <a:solidFill>
                            <a:schemeClr val="bg1"/>
                          </a:solidFill>
                        </a:rPr>
                        <a:t>name</a:t>
                      </a:r>
                      <a:endParaRPr lang="es-AR" sz="1800" b="0" dirty="0">
                        <a:solidFill>
                          <a:schemeClr val="bg1"/>
                        </a:solidFill>
                      </a:endParaRPr>
                    </a:p>
                  </a:txBody>
                  <a:tcPr marL="33298" marR="33298" marT="16649" marB="16649" anchor="ctr">
                    <a:lnL>
                      <a:noFill/>
                    </a:lnL>
                    <a:lnR>
                      <a:noFill/>
                    </a:lnR>
                    <a:lnT>
                      <a:noFill/>
                    </a:lnT>
                    <a:lnB>
                      <a:noFill/>
                    </a:lnB>
                    <a:noFill/>
                  </a:tcPr>
                </a:tc>
                <a:tc>
                  <a:txBody>
                    <a:bodyPr/>
                    <a:lstStyle/>
                    <a:p>
                      <a:r>
                        <a:rPr lang="es-AR" sz="1800" b="0">
                          <a:solidFill>
                            <a:schemeClr val="bg1"/>
                          </a:solidFill>
                        </a:rPr>
                        <a:t>Nombre de la criptomoneda (ej. Bitcoin, Ethereum)</a:t>
                      </a:r>
                    </a:p>
                  </a:txBody>
                  <a:tcPr marL="33298" marR="33298" marT="16649" marB="16649" anchor="ctr">
                    <a:lnL>
                      <a:noFill/>
                    </a:lnL>
                    <a:lnR>
                      <a:noFill/>
                    </a:lnR>
                    <a:lnT>
                      <a:noFill/>
                    </a:lnT>
                    <a:lnB>
                      <a:noFill/>
                    </a:lnB>
                    <a:noFill/>
                  </a:tcPr>
                </a:tc>
                <a:extLst>
                  <a:ext uri="{0D108BD9-81ED-4DB2-BD59-A6C34878D82A}">
                    <a16:rowId xmlns:a16="http://schemas.microsoft.com/office/drawing/2014/main" val="1829960124"/>
                  </a:ext>
                </a:extLst>
              </a:tr>
              <a:tr h="133193">
                <a:tc>
                  <a:txBody>
                    <a:bodyPr/>
                    <a:lstStyle/>
                    <a:p>
                      <a:r>
                        <a:rPr lang="es-AR" sz="1800" b="0" dirty="0">
                          <a:solidFill>
                            <a:schemeClr val="bg1"/>
                          </a:solidFill>
                        </a:rPr>
                        <a:t>date</a:t>
                      </a:r>
                    </a:p>
                  </a:txBody>
                  <a:tcPr marL="33298" marR="33298" marT="16649" marB="16649" anchor="ctr">
                    <a:lnL>
                      <a:noFill/>
                    </a:lnL>
                    <a:lnR>
                      <a:noFill/>
                    </a:lnR>
                    <a:lnT>
                      <a:noFill/>
                    </a:lnT>
                    <a:lnB>
                      <a:noFill/>
                    </a:lnB>
                    <a:noFill/>
                  </a:tcPr>
                </a:tc>
                <a:tc>
                  <a:txBody>
                    <a:bodyPr/>
                    <a:lstStyle/>
                    <a:p>
                      <a:r>
                        <a:rPr lang="es-AR" sz="1800" b="0">
                          <a:solidFill>
                            <a:schemeClr val="bg1"/>
                          </a:solidFill>
                        </a:rPr>
                        <a:t>Fecha del registro</a:t>
                      </a:r>
                    </a:p>
                  </a:txBody>
                  <a:tcPr marL="33298" marR="33298" marT="16649" marB="16649" anchor="ctr">
                    <a:lnL>
                      <a:noFill/>
                    </a:lnL>
                    <a:lnR>
                      <a:noFill/>
                    </a:lnR>
                    <a:lnT>
                      <a:noFill/>
                    </a:lnT>
                    <a:lnB>
                      <a:noFill/>
                    </a:lnB>
                    <a:noFill/>
                  </a:tcPr>
                </a:tc>
                <a:extLst>
                  <a:ext uri="{0D108BD9-81ED-4DB2-BD59-A6C34878D82A}">
                    <a16:rowId xmlns:a16="http://schemas.microsoft.com/office/drawing/2014/main" val="4187056583"/>
                  </a:ext>
                </a:extLst>
              </a:tr>
              <a:tr h="133193">
                <a:tc>
                  <a:txBody>
                    <a:bodyPr/>
                    <a:lstStyle/>
                    <a:p>
                      <a:r>
                        <a:rPr lang="es-AR" sz="1800" b="0" dirty="0" err="1">
                          <a:solidFill>
                            <a:schemeClr val="bg1"/>
                          </a:solidFill>
                        </a:rPr>
                        <a:t>year</a:t>
                      </a:r>
                      <a:endParaRPr lang="es-AR" sz="1800" b="0" dirty="0">
                        <a:solidFill>
                          <a:schemeClr val="bg1"/>
                        </a:solidFill>
                      </a:endParaRPr>
                    </a:p>
                  </a:txBody>
                  <a:tcPr marL="33298" marR="33298" marT="16649" marB="16649" anchor="ctr">
                    <a:lnL>
                      <a:noFill/>
                    </a:lnL>
                    <a:lnR>
                      <a:noFill/>
                    </a:lnR>
                    <a:lnT>
                      <a:noFill/>
                    </a:lnT>
                    <a:lnB>
                      <a:noFill/>
                    </a:lnB>
                    <a:noFill/>
                  </a:tcPr>
                </a:tc>
                <a:tc>
                  <a:txBody>
                    <a:bodyPr/>
                    <a:lstStyle/>
                    <a:p>
                      <a:r>
                        <a:rPr lang="es-AR" sz="1800" b="0">
                          <a:solidFill>
                            <a:schemeClr val="bg1"/>
                          </a:solidFill>
                        </a:rPr>
                        <a:t>Año de la fecha</a:t>
                      </a:r>
                    </a:p>
                  </a:txBody>
                  <a:tcPr marL="33298" marR="33298" marT="16649" marB="16649" anchor="ctr">
                    <a:lnL>
                      <a:noFill/>
                    </a:lnL>
                    <a:lnR>
                      <a:noFill/>
                    </a:lnR>
                    <a:lnT>
                      <a:noFill/>
                    </a:lnT>
                    <a:lnB>
                      <a:noFill/>
                    </a:lnB>
                    <a:noFill/>
                  </a:tcPr>
                </a:tc>
                <a:extLst>
                  <a:ext uri="{0D108BD9-81ED-4DB2-BD59-A6C34878D82A}">
                    <a16:rowId xmlns:a16="http://schemas.microsoft.com/office/drawing/2014/main" val="3538524801"/>
                  </a:ext>
                </a:extLst>
              </a:tr>
              <a:tr h="133193">
                <a:tc>
                  <a:txBody>
                    <a:bodyPr/>
                    <a:lstStyle/>
                    <a:p>
                      <a:r>
                        <a:rPr lang="es-AR" sz="1800" b="0" dirty="0" err="1">
                          <a:solidFill>
                            <a:schemeClr val="bg1"/>
                          </a:solidFill>
                        </a:rPr>
                        <a:t>month</a:t>
                      </a:r>
                      <a:endParaRPr lang="es-AR" sz="1800" b="0" dirty="0">
                        <a:solidFill>
                          <a:schemeClr val="bg1"/>
                        </a:solidFill>
                      </a:endParaRPr>
                    </a:p>
                  </a:txBody>
                  <a:tcPr marL="33298" marR="33298" marT="16649" marB="16649" anchor="ctr">
                    <a:lnL>
                      <a:noFill/>
                    </a:lnL>
                    <a:lnR>
                      <a:noFill/>
                    </a:lnR>
                    <a:lnT>
                      <a:noFill/>
                    </a:lnT>
                    <a:lnB>
                      <a:noFill/>
                    </a:lnB>
                    <a:noFill/>
                  </a:tcPr>
                </a:tc>
                <a:tc>
                  <a:txBody>
                    <a:bodyPr/>
                    <a:lstStyle/>
                    <a:p>
                      <a:r>
                        <a:rPr lang="es-AR" sz="1800" b="0">
                          <a:solidFill>
                            <a:schemeClr val="bg1"/>
                          </a:solidFill>
                        </a:rPr>
                        <a:t>Mes de la fecha</a:t>
                      </a:r>
                    </a:p>
                  </a:txBody>
                  <a:tcPr marL="33298" marR="33298" marT="16649" marB="16649" anchor="ctr">
                    <a:lnL>
                      <a:noFill/>
                    </a:lnL>
                    <a:lnR>
                      <a:noFill/>
                    </a:lnR>
                    <a:lnT>
                      <a:noFill/>
                    </a:lnT>
                    <a:lnB>
                      <a:noFill/>
                    </a:lnB>
                    <a:noFill/>
                  </a:tcPr>
                </a:tc>
                <a:extLst>
                  <a:ext uri="{0D108BD9-81ED-4DB2-BD59-A6C34878D82A}">
                    <a16:rowId xmlns:a16="http://schemas.microsoft.com/office/drawing/2014/main" val="1882262788"/>
                  </a:ext>
                </a:extLst>
              </a:tr>
              <a:tr h="133193">
                <a:tc>
                  <a:txBody>
                    <a:bodyPr/>
                    <a:lstStyle/>
                    <a:p>
                      <a:r>
                        <a:rPr lang="es-AR" sz="1800" b="0" dirty="0" err="1">
                          <a:solidFill>
                            <a:schemeClr val="bg1"/>
                          </a:solidFill>
                        </a:rPr>
                        <a:t>weekday</a:t>
                      </a:r>
                      <a:endParaRPr lang="es-AR" sz="1800" b="0" dirty="0">
                        <a:solidFill>
                          <a:schemeClr val="bg1"/>
                        </a:solidFill>
                      </a:endParaRPr>
                    </a:p>
                  </a:txBody>
                  <a:tcPr marL="33298" marR="33298" marT="16649" marB="16649" anchor="ctr">
                    <a:lnL>
                      <a:noFill/>
                    </a:lnL>
                    <a:lnR>
                      <a:noFill/>
                    </a:lnR>
                    <a:lnT>
                      <a:noFill/>
                    </a:lnT>
                    <a:lnB>
                      <a:noFill/>
                    </a:lnB>
                    <a:noFill/>
                  </a:tcPr>
                </a:tc>
                <a:tc>
                  <a:txBody>
                    <a:bodyPr/>
                    <a:lstStyle/>
                    <a:p>
                      <a:r>
                        <a:rPr lang="es-AR" sz="1800" b="0">
                          <a:solidFill>
                            <a:schemeClr val="bg1"/>
                          </a:solidFill>
                        </a:rPr>
                        <a:t>Día de la semana</a:t>
                      </a:r>
                    </a:p>
                  </a:txBody>
                  <a:tcPr marL="33298" marR="33298" marT="16649" marB="16649" anchor="ctr">
                    <a:lnL>
                      <a:noFill/>
                    </a:lnL>
                    <a:lnR>
                      <a:noFill/>
                    </a:lnR>
                    <a:lnT>
                      <a:noFill/>
                    </a:lnT>
                    <a:lnB>
                      <a:noFill/>
                    </a:lnB>
                    <a:noFill/>
                  </a:tcPr>
                </a:tc>
                <a:extLst>
                  <a:ext uri="{0D108BD9-81ED-4DB2-BD59-A6C34878D82A}">
                    <a16:rowId xmlns:a16="http://schemas.microsoft.com/office/drawing/2014/main" val="163640707"/>
                  </a:ext>
                </a:extLst>
              </a:tr>
              <a:tr h="133193">
                <a:tc>
                  <a:txBody>
                    <a:bodyPr/>
                    <a:lstStyle/>
                    <a:p>
                      <a:r>
                        <a:rPr lang="es-AR" sz="1800" b="0" dirty="0" err="1">
                          <a:solidFill>
                            <a:schemeClr val="bg1"/>
                          </a:solidFill>
                        </a:rPr>
                        <a:t>is_weekend</a:t>
                      </a:r>
                      <a:endParaRPr lang="es-AR" sz="1800" b="0" dirty="0">
                        <a:solidFill>
                          <a:schemeClr val="bg1"/>
                        </a:solidFill>
                      </a:endParaRPr>
                    </a:p>
                  </a:txBody>
                  <a:tcPr marL="33298" marR="33298" marT="16649" marB="16649" anchor="ctr">
                    <a:lnL>
                      <a:noFill/>
                    </a:lnL>
                    <a:lnR>
                      <a:noFill/>
                    </a:lnR>
                    <a:lnT>
                      <a:noFill/>
                    </a:lnT>
                    <a:lnB>
                      <a:noFill/>
                    </a:lnB>
                    <a:noFill/>
                  </a:tcPr>
                </a:tc>
                <a:tc>
                  <a:txBody>
                    <a:bodyPr/>
                    <a:lstStyle/>
                    <a:p>
                      <a:r>
                        <a:rPr lang="es-MX" sz="1800" b="0">
                          <a:solidFill>
                            <a:schemeClr val="bg1"/>
                          </a:solidFill>
                        </a:rPr>
                        <a:t>Indica si la fecha es fin de semana</a:t>
                      </a:r>
                    </a:p>
                  </a:txBody>
                  <a:tcPr marL="33298" marR="33298" marT="16649" marB="16649" anchor="ctr">
                    <a:lnL>
                      <a:noFill/>
                    </a:lnL>
                    <a:lnR>
                      <a:noFill/>
                    </a:lnR>
                    <a:lnT>
                      <a:noFill/>
                    </a:lnT>
                    <a:lnB>
                      <a:noFill/>
                    </a:lnB>
                    <a:noFill/>
                  </a:tcPr>
                </a:tc>
                <a:extLst>
                  <a:ext uri="{0D108BD9-81ED-4DB2-BD59-A6C34878D82A}">
                    <a16:rowId xmlns:a16="http://schemas.microsoft.com/office/drawing/2014/main" val="4121875820"/>
                  </a:ext>
                </a:extLst>
              </a:tr>
              <a:tr h="133193">
                <a:tc>
                  <a:txBody>
                    <a:bodyPr/>
                    <a:lstStyle/>
                    <a:p>
                      <a:r>
                        <a:rPr lang="es-AR" sz="1800" b="0" dirty="0" err="1">
                          <a:solidFill>
                            <a:schemeClr val="bg1"/>
                          </a:solidFill>
                        </a:rPr>
                        <a:t>closing_price</a:t>
                      </a:r>
                      <a:endParaRPr lang="es-AR" sz="1800" b="0" dirty="0">
                        <a:solidFill>
                          <a:schemeClr val="bg1"/>
                        </a:solidFill>
                      </a:endParaRPr>
                    </a:p>
                  </a:txBody>
                  <a:tcPr marL="33298" marR="33298" marT="16649" marB="16649" anchor="ctr">
                    <a:lnL>
                      <a:noFill/>
                    </a:lnL>
                    <a:lnR>
                      <a:noFill/>
                    </a:lnR>
                    <a:lnT>
                      <a:noFill/>
                    </a:lnT>
                    <a:lnB>
                      <a:noFill/>
                    </a:lnB>
                    <a:noFill/>
                  </a:tcPr>
                </a:tc>
                <a:tc>
                  <a:txBody>
                    <a:bodyPr/>
                    <a:lstStyle/>
                    <a:p>
                      <a:r>
                        <a:rPr lang="es-AR" sz="1800" b="0" dirty="0">
                          <a:solidFill>
                            <a:schemeClr val="bg1"/>
                          </a:solidFill>
                        </a:rPr>
                        <a:t>Precio de cierre diario (en USD)</a:t>
                      </a:r>
                    </a:p>
                  </a:txBody>
                  <a:tcPr marL="33298" marR="33298" marT="16649" marB="16649" anchor="ctr">
                    <a:lnL>
                      <a:noFill/>
                    </a:lnL>
                    <a:lnR>
                      <a:noFill/>
                    </a:lnR>
                    <a:lnT>
                      <a:noFill/>
                    </a:lnT>
                    <a:lnB>
                      <a:noFill/>
                    </a:lnB>
                    <a:noFill/>
                  </a:tcPr>
                </a:tc>
                <a:extLst>
                  <a:ext uri="{0D108BD9-81ED-4DB2-BD59-A6C34878D82A}">
                    <a16:rowId xmlns:a16="http://schemas.microsoft.com/office/drawing/2014/main" val="154942628"/>
                  </a:ext>
                </a:extLst>
              </a:tr>
              <a:tr h="133193">
                <a:tc>
                  <a:txBody>
                    <a:bodyPr/>
                    <a:lstStyle/>
                    <a:p>
                      <a:r>
                        <a:rPr lang="es-AR" sz="1800" b="0">
                          <a:solidFill>
                            <a:schemeClr val="bg1"/>
                          </a:solidFill>
                        </a:rPr>
                        <a:t>daily_pct_change</a:t>
                      </a:r>
                    </a:p>
                  </a:txBody>
                  <a:tcPr marL="33298" marR="33298" marT="16649" marB="16649" anchor="ctr">
                    <a:lnL>
                      <a:noFill/>
                    </a:lnL>
                    <a:lnR>
                      <a:noFill/>
                    </a:lnR>
                    <a:lnT>
                      <a:noFill/>
                    </a:lnT>
                    <a:lnB>
                      <a:noFill/>
                    </a:lnB>
                    <a:noFill/>
                  </a:tcPr>
                </a:tc>
                <a:tc>
                  <a:txBody>
                    <a:bodyPr/>
                    <a:lstStyle/>
                    <a:p>
                      <a:r>
                        <a:rPr lang="es-MX" sz="1800" b="0" dirty="0">
                          <a:solidFill>
                            <a:schemeClr val="bg1"/>
                          </a:solidFill>
                        </a:rPr>
                        <a:t>Variación porcentual diaria del precio (Ej. 0,08 = 8%)</a:t>
                      </a:r>
                    </a:p>
                  </a:txBody>
                  <a:tcPr marL="33298" marR="33298" marT="16649" marB="16649" anchor="ctr">
                    <a:lnL>
                      <a:noFill/>
                    </a:lnL>
                    <a:lnR>
                      <a:noFill/>
                    </a:lnR>
                    <a:lnT>
                      <a:noFill/>
                    </a:lnT>
                    <a:lnB>
                      <a:noFill/>
                    </a:lnB>
                    <a:noFill/>
                  </a:tcPr>
                </a:tc>
                <a:extLst>
                  <a:ext uri="{0D108BD9-81ED-4DB2-BD59-A6C34878D82A}">
                    <a16:rowId xmlns:a16="http://schemas.microsoft.com/office/drawing/2014/main" val="1631944122"/>
                  </a:ext>
                </a:extLst>
              </a:tr>
              <a:tr h="133193">
                <a:tc>
                  <a:txBody>
                    <a:bodyPr/>
                    <a:lstStyle/>
                    <a:p>
                      <a:r>
                        <a:rPr lang="es-AR" sz="1800" b="0" dirty="0">
                          <a:solidFill>
                            <a:schemeClr val="bg1"/>
                          </a:solidFill>
                        </a:rPr>
                        <a:t>sma_7</a:t>
                      </a:r>
                    </a:p>
                  </a:txBody>
                  <a:tcPr marL="33298" marR="33298" marT="16649" marB="16649" anchor="ctr">
                    <a:lnL>
                      <a:noFill/>
                    </a:lnL>
                    <a:lnR>
                      <a:noFill/>
                    </a:lnR>
                    <a:lnT>
                      <a:noFill/>
                    </a:lnT>
                    <a:lnB>
                      <a:noFill/>
                    </a:lnB>
                    <a:noFill/>
                  </a:tcPr>
                </a:tc>
                <a:tc>
                  <a:txBody>
                    <a:bodyPr/>
                    <a:lstStyle/>
                    <a:p>
                      <a:r>
                        <a:rPr lang="es-MX" sz="1800" b="0" dirty="0">
                          <a:solidFill>
                            <a:schemeClr val="bg1"/>
                          </a:solidFill>
                        </a:rPr>
                        <a:t>Media móvil simple de 7 días (promedio en USD)</a:t>
                      </a:r>
                    </a:p>
                  </a:txBody>
                  <a:tcPr marL="33298" marR="33298" marT="16649" marB="16649" anchor="ctr">
                    <a:lnL>
                      <a:noFill/>
                    </a:lnL>
                    <a:lnR>
                      <a:noFill/>
                    </a:lnR>
                    <a:lnT>
                      <a:noFill/>
                    </a:lnT>
                    <a:lnB>
                      <a:noFill/>
                    </a:lnB>
                    <a:noFill/>
                  </a:tcPr>
                </a:tc>
                <a:extLst>
                  <a:ext uri="{0D108BD9-81ED-4DB2-BD59-A6C34878D82A}">
                    <a16:rowId xmlns:a16="http://schemas.microsoft.com/office/drawing/2014/main" val="1041878682"/>
                  </a:ext>
                </a:extLst>
              </a:tr>
              <a:tr h="133193">
                <a:tc>
                  <a:txBody>
                    <a:bodyPr/>
                    <a:lstStyle/>
                    <a:p>
                      <a:r>
                        <a:rPr lang="es-AR" sz="1800" b="0">
                          <a:solidFill>
                            <a:schemeClr val="bg1"/>
                          </a:solidFill>
                        </a:rPr>
                        <a:t>sma_30</a:t>
                      </a:r>
                    </a:p>
                  </a:txBody>
                  <a:tcPr marL="33298" marR="33298" marT="16649" marB="16649" anchor="ctr">
                    <a:lnL>
                      <a:noFill/>
                    </a:lnL>
                    <a:lnR>
                      <a:noFill/>
                    </a:lnR>
                    <a:lnT>
                      <a:noFill/>
                    </a:lnT>
                    <a:lnB>
                      <a:noFill/>
                    </a:lnB>
                    <a:noFill/>
                  </a:tcPr>
                </a:tc>
                <a:tc>
                  <a:txBody>
                    <a:bodyPr/>
                    <a:lstStyle/>
                    <a:p>
                      <a:r>
                        <a:rPr lang="es-MX" sz="1800" b="0" dirty="0">
                          <a:solidFill>
                            <a:schemeClr val="bg1"/>
                          </a:solidFill>
                        </a:rPr>
                        <a:t>Media móvil simple de 30 días (promedio en USD)</a:t>
                      </a:r>
                    </a:p>
                  </a:txBody>
                  <a:tcPr marL="33298" marR="33298" marT="16649" marB="16649" anchor="ctr">
                    <a:lnL>
                      <a:noFill/>
                    </a:lnL>
                    <a:lnR>
                      <a:noFill/>
                    </a:lnR>
                    <a:lnT>
                      <a:noFill/>
                    </a:lnT>
                    <a:lnB>
                      <a:noFill/>
                    </a:lnB>
                    <a:noFill/>
                  </a:tcPr>
                </a:tc>
                <a:extLst>
                  <a:ext uri="{0D108BD9-81ED-4DB2-BD59-A6C34878D82A}">
                    <a16:rowId xmlns:a16="http://schemas.microsoft.com/office/drawing/2014/main" val="4191172956"/>
                  </a:ext>
                </a:extLst>
              </a:tr>
            </a:tbl>
          </a:graphicData>
        </a:graphic>
      </p:graphicFrame>
      <p:pic>
        <p:nvPicPr>
          <p:cNvPr id="23" name="Imagen 22" descr="Logotipo&#10;&#10;El contenido generado por IA puede ser incorrecto.">
            <a:extLst>
              <a:ext uri="{FF2B5EF4-FFF2-40B4-BE49-F238E27FC236}">
                <a16:creationId xmlns:a16="http://schemas.microsoft.com/office/drawing/2014/main" id="{31F16DC3-7646-EE59-3028-04FBD77B74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10123" y="291437"/>
            <a:ext cx="1460143" cy="1460143"/>
          </a:xfrm>
          <a:prstGeom prst="rect">
            <a:avLst/>
          </a:prstGeom>
        </p:spPr>
      </p:pic>
    </p:spTree>
    <p:extLst>
      <p:ext uri="{BB962C8B-B14F-4D97-AF65-F5344CB8AC3E}">
        <p14:creationId xmlns:p14="http://schemas.microsoft.com/office/powerpoint/2010/main" val="1922484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062E21-0475-903E-0078-1511FA799E47}"/>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D25A196E-915E-8D4A-BB69-189A789C06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FB3BA0B-3C7C-22ED-1400-E46F06A76D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888D79A9-D06A-0E89-AADD-3F9044F11D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A8E30AF-67D9-2D75-2EA4-1264B71A24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E0D7D54C-975C-3FB3-DA8D-12E201CB08FD}"/>
              </a:ext>
            </a:extLst>
          </p:cNvPr>
          <p:cNvSpPr/>
          <p:nvPr/>
        </p:nvSpPr>
        <p:spPr>
          <a:xfrm>
            <a:off x="751114" y="5025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Rectángulo 6">
            <a:extLst>
              <a:ext uri="{FF2B5EF4-FFF2-40B4-BE49-F238E27FC236}">
                <a16:creationId xmlns:a16="http://schemas.microsoft.com/office/drawing/2014/main" id="{E40107FF-44A7-BF63-B2CF-BF8060B76D27}"/>
              </a:ext>
            </a:extLst>
          </p:cNvPr>
          <p:cNvSpPr/>
          <p:nvPr/>
        </p:nvSpPr>
        <p:spPr>
          <a:xfrm>
            <a:off x="7052734" y="63243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CuadroTexto 1">
            <a:extLst>
              <a:ext uri="{FF2B5EF4-FFF2-40B4-BE49-F238E27FC236}">
                <a16:creationId xmlns:a16="http://schemas.microsoft.com/office/drawing/2014/main" id="{CAC21E7C-5A43-03D0-73BD-7FFD4090217A}"/>
              </a:ext>
            </a:extLst>
          </p:cNvPr>
          <p:cNvSpPr txBox="1"/>
          <p:nvPr/>
        </p:nvSpPr>
        <p:spPr>
          <a:xfrm>
            <a:off x="751114" y="636789"/>
            <a:ext cx="3548742" cy="769441"/>
          </a:xfrm>
          <a:prstGeom prst="rect">
            <a:avLst/>
          </a:prstGeom>
          <a:noFill/>
        </p:spPr>
        <p:txBody>
          <a:bodyPr wrap="square" rtlCol="0">
            <a:spAutoFit/>
          </a:bodyPr>
          <a:lstStyle/>
          <a:p>
            <a:r>
              <a:rPr lang="es-MX" sz="4400" b="1" dirty="0">
                <a:solidFill>
                  <a:schemeClr val="bg1"/>
                </a:solidFill>
              </a:rPr>
              <a:t>METADATA</a:t>
            </a:r>
          </a:p>
        </p:txBody>
      </p:sp>
      <p:graphicFrame>
        <p:nvGraphicFramePr>
          <p:cNvPr id="5" name="Tabla 4">
            <a:extLst>
              <a:ext uri="{FF2B5EF4-FFF2-40B4-BE49-F238E27FC236}">
                <a16:creationId xmlns:a16="http://schemas.microsoft.com/office/drawing/2014/main" id="{67B2FAD5-B959-4A45-090B-22B022C711E1}"/>
              </a:ext>
            </a:extLst>
          </p:cNvPr>
          <p:cNvGraphicFramePr>
            <a:graphicFrameLocks noGrp="1"/>
          </p:cNvGraphicFramePr>
          <p:nvPr>
            <p:extLst>
              <p:ext uri="{D42A27DB-BD31-4B8C-83A1-F6EECF244321}">
                <p14:modId xmlns:p14="http://schemas.microsoft.com/office/powerpoint/2010/main" val="2461076375"/>
              </p:ext>
            </p:extLst>
          </p:nvPr>
        </p:nvGraphicFramePr>
        <p:xfrm>
          <a:off x="643468" y="1610378"/>
          <a:ext cx="11395646" cy="4495168"/>
        </p:xfrm>
        <a:graphic>
          <a:graphicData uri="http://schemas.openxmlformats.org/drawingml/2006/table">
            <a:tbl>
              <a:tblPr/>
              <a:tblGrid>
                <a:gridCol w="2348126">
                  <a:extLst>
                    <a:ext uri="{9D8B030D-6E8A-4147-A177-3AD203B41FA5}">
                      <a16:colId xmlns:a16="http://schemas.microsoft.com/office/drawing/2014/main" val="4138627302"/>
                    </a:ext>
                  </a:extLst>
                </a:gridCol>
                <a:gridCol w="9047520">
                  <a:extLst>
                    <a:ext uri="{9D8B030D-6E8A-4147-A177-3AD203B41FA5}">
                      <a16:colId xmlns:a16="http://schemas.microsoft.com/office/drawing/2014/main" val="2174248928"/>
                    </a:ext>
                  </a:extLst>
                </a:gridCol>
              </a:tblGrid>
              <a:tr h="233087">
                <a:tc>
                  <a:txBody>
                    <a:bodyPr/>
                    <a:lstStyle/>
                    <a:p>
                      <a:pPr algn="l"/>
                      <a:r>
                        <a:rPr lang="es-AR" sz="2000" b="1" u="sng" dirty="0">
                          <a:solidFill>
                            <a:schemeClr val="bg1"/>
                          </a:solidFill>
                        </a:rPr>
                        <a:t>Columna</a:t>
                      </a:r>
                    </a:p>
                  </a:txBody>
                  <a:tcPr marL="33298" marR="33298" marT="16649" marB="16649" anchor="ctr">
                    <a:lnL>
                      <a:noFill/>
                    </a:lnL>
                    <a:lnR>
                      <a:noFill/>
                    </a:lnR>
                    <a:lnT>
                      <a:noFill/>
                    </a:lnT>
                    <a:lnB>
                      <a:noFill/>
                    </a:lnB>
                    <a:noFill/>
                  </a:tcPr>
                </a:tc>
                <a:tc>
                  <a:txBody>
                    <a:bodyPr/>
                    <a:lstStyle/>
                    <a:p>
                      <a:pPr algn="l"/>
                      <a:r>
                        <a:rPr lang="es-AR" sz="2000" b="1" u="sng" dirty="0">
                          <a:solidFill>
                            <a:schemeClr val="bg1"/>
                          </a:solidFill>
                        </a:rPr>
                        <a:t>Descripción</a:t>
                      </a:r>
                    </a:p>
                  </a:txBody>
                  <a:tcPr marL="33298" marR="33298" marT="16649" marB="16649" anchor="ctr">
                    <a:lnL>
                      <a:noFill/>
                    </a:lnL>
                    <a:lnR>
                      <a:noFill/>
                    </a:lnR>
                    <a:lnT>
                      <a:noFill/>
                    </a:lnT>
                    <a:lnB>
                      <a:noFill/>
                    </a:lnB>
                    <a:noFill/>
                  </a:tcPr>
                </a:tc>
                <a:extLst>
                  <a:ext uri="{0D108BD9-81ED-4DB2-BD59-A6C34878D82A}">
                    <a16:rowId xmlns:a16="http://schemas.microsoft.com/office/drawing/2014/main" val="1278561617"/>
                  </a:ext>
                </a:extLst>
              </a:tr>
              <a:tr h="233087">
                <a:tc>
                  <a:txBody>
                    <a:bodyPr/>
                    <a:lstStyle/>
                    <a:p>
                      <a:r>
                        <a:rPr lang="es-AR" sz="1600" b="0" dirty="0">
                          <a:solidFill>
                            <a:schemeClr val="bg1"/>
                          </a:solidFill>
                        </a:rPr>
                        <a:t>volatility_7d</a:t>
                      </a:r>
                    </a:p>
                  </a:txBody>
                  <a:tcPr marL="33298" marR="33298" marT="16649" marB="16649" anchor="ctr">
                    <a:lnL>
                      <a:noFill/>
                    </a:lnL>
                    <a:lnR>
                      <a:noFill/>
                    </a:lnR>
                    <a:lnT>
                      <a:noFill/>
                    </a:lnT>
                    <a:lnB>
                      <a:noFill/>
                    </a:lnB>
                    <a:noFill/>
                  </a:tcPr>
                </a:tc>
                <a:tc>
                  <a:txBody>
                    <a:bodyPr/>
                    <a:lstStyle/>
                    <a:p>
                      <a:r>
                        <a:rPr lang="es-MX" sz="1600" b="0" dirty="0">
                          <a:solidFill>
                            <a:schemeClr val="bg1"/>
                          </a:solidFill>
                        </a:rPr>
                        <a:t>Volatilidad de 7 días (desviación estándar) (en USD)</a:t>
                      </a:r>
                    </a:p>
                  </a:txBody>
                  <a:tcPr marL="33298" marR="33298" marT="16649" marB="16649" anchor="ctr">
                    <a:lnL>
                      <a:noFill/>
                    </a:lnL>
                    <a:lnR>
                      <a:noFill/>
                    </a:lnR>
                    <a:lnT>
                      <a:noFill/>
                    </a:lnT>
                    <a:lnB>
                      <a:noFill/>
                    </a:lnB>
                    <a:noFill/>
                  </a:tcPr>
                </a:tc>
                <a:extLst>
                  <a:ext uri="{0D108BD9-81ED-4DB2-BD59-A6C34878D82A}">
                    <a16:rowId xmlns:a16="http://schemas.microsoft.com/office/drawing/2014/main" val="1707778245"/>
                  </a:ext>
                </a:extLst>
              </a:tr>
              <a:tr h="188584">
                <a:tc>
                  <a:txBody>
                    <a:bodyPr/>
                    <a:lstStyle/>
                    <a:p>
                      <a:r>
                        <a:rPr lang="es-AR" sz="1600" b="0" dirty="0" err="1">
                          <a:solidFill>
                            <a:schemeClr val="bg1"/>
                          </a:solidFill>
                        </a:rPr>
                        <a:t>total_volume_day</a:t>
                      </a:r>
                      <a:endParaRPr lang="es-AR" sz="1600" b="0" dirty="0">
                        <a:solidFill>
                          <a:schemeClr val="bg1"/>
                        </a:solidFill>
                      </a:endParaRPr>
                    </a:p>
                  </a:txBody>
                  <a:tcPr marL="33298" marR="33298" marT="16649" marB="16649" anchor="ctr">
                    <a:lnL>
                      <a:noFill/>
                    </a:lnL>
                    <a:lnR>
                      <a:noFill/>
                    </a:lnR>
                    <a:lnT>
                      <a:noFill/>
                    </a:lnT>
                    <a:lnB>
                      <a:noFill/>
                    </a:lnB>
                    <a:noFill/>
                  </a:tcPr>
                </a:tc>
                <a:tc>
                  <a:txBody>
                    <a:bodyPr/>
                    <a:lstStyle/>
                    <a:p>
                      <a:r>
                        <a:rPr lang="es-MX" sz="1600" b="0" dirty="0">
                          <a:solidFill>
                            <a:schemeClr val="bg1"/>
                          </a:solidFill>
                        </a:rPr>
                        <a:t>Volumen total de operaciones en el día (en USD)</a:t>
                      </a:r>
                    </a:p>
                  </a:txBody>
                  <a:tcPr marL="33298" marR="33298" marT="16649" marB="16649" anchor="ctr">
                    <a:lnL>
                      <a:noFill/>
                    </a:lnL>
                    <a:lnR>
                      <a:noFill/>
                    </a:lnR>
                    <a:lnT>
                      <a:noFill/>
                    </a:lnT>
                    <a:lnB>
                      <a:noFill/>
                    </a:lnB>
                    <a:noFill/>
                  </a:tcPr>
                </a:tc>
                <a:extLst>
                  <a:ext uri="{0D108BD9-81ED-4DB2-BD59-A6C34878D82A}">
                    <a16:rowId xmlns:a16="http://schemas.microsoft.com/office/drawing/2014/main" val="3341304943"/>
                  </a:ext>
                </a:extLst>
              </a:tr>
              <a:tr h="133193">
                <a:tc>
                  <a:txBody>
                    <a:bodyPr/>
                    <a:lstStyle/>
                    <a:p>
                      <a:r>
                        <a:rPr lang="es-AR" sz="1600" b="0" dirty="0" err="1">
                          <a:solidFill>
                            <a:schemeClr val="bg1"/>
                          </a:solidFill>
                        </a:rPr>
                        <a:t>volume_marketcap_ratio</a:t>
                      </a:r>
                      <a:endParaRPr lang="es-AR" sz="1600" b="0" dirty="0">
                        <a:solidFill>
                          <a:schemeClr val="bg1"/>
                        </a:solidFill>
                      </a:endParaRPr>
                    </a:p>
                  </a:txBody>
                  <a:tcPr marL="33298" marR="33298" marT="16649" marB="16649" anchor="ctr">
                    <a:lnL>
                      <a:noFill/>
                    </a:lnL>
                    <a:lnR>
                      <a:noFill/>
                    </a:lnR>
                    <a:lnT>
                      <a:noFill/>
                    </a:lnT>
                    <a:lnB>
                      <a:noFill/>
                    </a:lnB>
                    <a:noFill/>
                  </a:tcPr>
                </a:tc>
                <a:tc>
                  <a:txBody>
                    <a:bodyPr/>
                    <a:lstStyle/>
                    <a:p>
                      <a:r>
                        <a:rPr lang="es-MX" sz="1600" b="0" dirty="0">
                          <a:solidFill>
                            <a:schemeClr val="bg1"/>
                          </a:solidFill>
                        </a:rPr>
                        <a:t>Relación entre volumen y capitalización de mercado (0,02 = 2%)</a:t>
                      </a:r>
                    </a:p>
                  </a:txBody>
                  <a:tcPr marL="33298" marR="33298" marT="16649" marB="16649" anchor="ctr">
                    <a:lnL>
                      <a:noFill/>
                    </a:lnL>
                    <a:lnR>
                      <a:noFill/>
                    </a:lnR>
                    <a:lnT>
                      <a:noFill/>
                    </a:lnT>
                    <a:lnB>
                      <a:noFill/>
                    </a:lnB>
                    <a:noFill/>
                  </a:tcPr>
                </a:tc>
                <a:extLst>
                  <a:ext uri="{0D108BD9-81ED-4DB2-BD59-A6C34878D82A}">
                    <a16:rowId xmlns:a16="http://schemas.microsoft.com/office/drawing/2014/main" val="2263959523"/>
                  </a:ext>
                </a:extLst>
              </a:tr>
              <a:tr h="133193">
                <a:tc>
                  <a:txBody>
                    <a:bodyPr/>
                    <a:lstStyle/>
                    <a:p>
                      <a:r>
                        <a:rPr lang="es-AR" sz="1600" b="0" dirty="0" err="1">
                          <a:solidFill>
                            <a:schemeClr val="bg1"/>
                          </a:solidFill>
                        </a:rPr>
                        <a:t>market_cap</a:t>
                      </a:r>
                      <a:endParaRPr lang="es-AR" sz="1600" b="0" dirty="0">
                        <a:solidFill>
                          <a:schemeClr val="bg1"/>
                        </a:solidFill>
                      </a:endParaRPr>
                    </a:p>
                  </a:txBody>
                  <a:tcPr marL="33298" marR="33298" marT="16649" marB="16649" anchor="ctr">
                    <a:lnL>
                      <a:noFill/>
                    </a:lnL>
                    <a:lnR>
                      <a:noFill/>
                    </a:lnR>
                    <a:lnT>
                      <a:noFill/>
                    </a:lnT>
                    <a:lnB>
                      <a:noFill/>
                    </a:lnB>
                    <a:noFill/>
                  </a:tcPr>
                </a:tc>
                <a:tc>
                  <a:txBody>
                    <a:bodyPr/>
                    <a:lstStyle/>
                    <a:p>
                      <a:r>
                        <a:rPr lang="es-AR" sz="1600" b="0" dirty="0">
                          <a:solidFill>
                            <a:schemeClr val="bg1"/>
                          </a:solidFill>
                        </a:rPr>
                        <a:t>Capitalización de mercado actual (en USD)</a:t>
                      </a:r>
                    </a:p>
                  </a:txBody>
                  <a:tcPr marL="33298" marR="33298" marT="16649" marB="16649" anchor="ctr">
                    <a:lnL>
                      <a:noFill/>
                    </a:lnL>
                    <a:lnR>
                      <a:noFill/>
                    </a:lnR>
                    <a:lnT>
                      <a:noFill/>
                    </a:lnT>
                    <a:lnB>
                      <a:noFill/>
                    </a:lnB>
                    <a:noFill/>
                  </a:tcPr>
                </a:tc>
                <a:extLst>
                  <a:ext uri="{0D108BD9-81ED-4DB2-BD59-A6C34878D82A}">
                    <a16:rowId xmlns:a16="http://schemas.microsoft.com/office/drawing/2014/main" val="641227085"/>
                  </a:ext>
                </a:extLst>
              </a:tr>
              <a:tr h="133193">
                <a:tc>
                  <a:txBody>
                    <a:bodyPr/>
                    <a:lstStyle/>
                    <a:p>
                      <a:r>
                        <a:rPr lang="es-AR" sz="1600" b="0" dirty="0" err="1">
                          <a:solidFill>
                            <a:schemeClr val="bg1"/>
                          </a:solidFill>
                        </a:rPr>
                        <a:t>market_cap_rank</a:t>
                      </a:r>
                      <a:endParaRPr lang="es-AR" sz="1600" b="0" dirty="0">
                        <a:solidFill>
                          <a:schemeClr val="bg1"/>
                        </a:solidFill>
                      </a:endParaRPr>
                    </a:p>
                  </a:txBody>
                  <a:tcPr marL="33298" marR="33298" marT="16649" marB="16649" anchor="ctr">
                    <a:lnL>
                      <a:noFill/>
                    </a:lnL>
                    <a:lnR>
                      <a:noFill/>
                    </a:lnR>
                    <a:lnT>
                      <a:noFill/>
                    </a:lnT>
                    <a:lnB>
                      <a:noFill/>
                    </a:lnB>
                    <a:noFill/>
                  </a:tcPr>
                </a:tc>
                <a:tc>
                  <a:txBody>
                    <a:bodyPr/>
                    <a:lstStyle/>
                    <a:p>
                      <a:r>
                        <a:rPr lang="es-MX" sz="1600" b="0" dirty="0">
                          <a:solidFill>
                            <a:schemeClr val="bg1"/>
                          </a:solidFill>
                        </a:rPr>
                        <a:t>Ranking de capitalización de mercado</a:t>
                      </a:r>
                    </a:p>
                  </a:txBody>
                  <a:tcPr marL="33298" marR="33298" marT="16649" marB="16649" anchor="ctr">
                    <a:lnL>
                      <a:noFill/>
                    </a:lnL>
                    <a:lnR>
                      <a:noFill/>
                    </a:lnR>
                    <a:lnT>
                      <a:noFill/>
                    </a:lnT>
                    <a:lnB>
                      <a:noFill/>
                    </a:lnB>
                    <a:noFill/>
                  </a:tcPr>
                </a:tc>
                <a:extLst>
                  <a:ext uri="{0D108BD9-81ED-4DB2-BD59-A6C34878D82A}">
                    <a16:rowId xmlns:a16="http://schemas.microsoft.com/office/drawing/2014/main" val="2396902965"/>
                  </a:ext>
                </a:extLst>
              </a:tr>
              <a:tr h="233087">
                <a:tc>
                  <a:txBody>
                    <a:bodyPr/>
                    <a:lstStyle/>
                    <a:p>
                      <a:r>
                        <a:rPr lang="es-AR" sz="1600" b="0">
                          <a:solidFill>
                            <a:schemeClr val="bg1"/>
                          </a:solidFill>
                        </a:rPr>
                        <a:t>fully_diluted_valuation</a:t>
                      </a:r>
                    </a:p>
                  </a:txBody>
                  <a:tcPr marL="33298" marR="33298" marT="16649" marB="16649" anchor="ctr">
                    <a:lnL>
                      <a:noFill/>
                    </a:lnL>
                    <a:lnR>
                      <a:noFill/>
                    </a:lnR>
                    <a:lnT>
                      <a:noFill/>
                    </a:lnT>
                    <a:lnB>
                      <a:noFill/>
                    </a:lnB>
                    <a:noFill/>
                  </a:tcPr>
                </a:tc>
                <a:tc>
                  <a:txBody>
                    <a:bodyPr/>
                    <a:lstStyle/>
                    <a:p>
                      <a:r>
                        <a:rPr lang="es-MX" sz="1600" b="0" dirty="0">
                          <a:solidFill>
                            <a:schemeClr val="bg1"/>
                          </a:solidFill>
                        </a:rPr>
                        <a:t>Valor de mercado (</a:t>
                      </a:r>
                      <a:r>
                        <a:rPr lang="es-MX" sz="1600" b="0" dirty="0" err="1">
                          <a:solidFill>
                            <a:schemeClr val="bg1"/>
                          </a:solidFill>
                        </a:rPr>
                        <a:t>market_cap</a:t>
                      </a:r>
                      <a:r>
                        <a:rPr lang="es-MX" sz="1600" b="0" dirty="0">
                          <a:solidFill>
                            <a:schemeClr val="bg1"/>
                          </a:solidFill>
                        </a:rPr>
                        <a:t>) si se emitiera todo el suministro máximo (en USD)</a:t>
                      </a:r>
                    </a:p>
                  </a:txBody>
                  <a:tcPr marL="33298" marR="33298" marT="16649" marB="16649" anchor="ctr">
                    <a:lnL>
                      <a:noFill/>
                    </a:lnL>
                    <a:lnR>
                      <a:noFill/>
                    </a:lnR>
                    <a:lnT>
                      <a:noFill/>
                    </a:lnT>
                    <a:lnB>
                      <a:noFill/>
                    </a:lnB>
                    <a:noFill/>
                  </a:tcPr>
                </a:tc>
                <a:extLst>
                  <a:ext uri="{0D108BD9-81ED-4DB2-BD59-A6C34878D82A}">
                    <a16:rowId xmlns:a16="http://schemas.microsoft.com/office/drawing/2014/main" val="4075356581"/>
                  </a:ext>
                </a:extLst>
              </a:tr>
              <a:tr h="133193">
                <a:tc>
                  <a:txBody>
                    <a:bodyPr/>
                    <a:lstStyle/>
                    <a:p>
                      <a:r>
                        <a:rPr lang="es-AR" sz="1600" b="0">
                          <a:solidFill>
                            <a:schemeClr val="bg1"/>
                          </a:solidFill>
                        </a:rPr>
                        <a:t>circulating_supply</a:t>
                      </a:r>
                    </a:p>
                  </a:txBody>
                  <a:tcPr marL="33298" marR="33298" marT="16649" marB="16649" anchor="ctr">
                    <a:lnL>
                      <a:noFill/>
                    </a:lnL>
                    <a:lnR>
                      <a:noFill/>
                    </a:lnR>
                    <a:lnT>
                      <a:noFill/>
                    </a:lnT>
                    <a:lnB>
                      <a:noFill/>
                    </a:lnB>
                    <a:noFill/>
                  </a:tcPr>
                </a:tc>
                <a:tc>
                  <a:txBody>
                    <a:bodyPr/>
                    <a:lstStyle/>
                    <a:p>
                      <a:r>
                        <a:rPr lang="es-AR" sz="1600" b="0" dirty="0">
                          <a:solidFill>
                            <a:schemeClr val="bg1"/>
                          </a:solidFill>
                        </a:rPr>
                        <a:t>Suministro en circulación </a:t>
                      </a:r>
                      <a:r>
                        <a:rPr lang="es-MX" sz="1600" b="0" dirty="0">
                          <a:solidFill>
                            <a:schemeClr val="bg1"/>
                          </a:solidFill>
                        </a:rPr>
                        <a:t>(medido en unidad de la cripto)</a:t>
                      </a:r>
                      <a:endParaRPr lang="es-AR" sz="1600" b="0" dirty="0">
                        <a:solidFill>
                          <a:schemeClr val="bg1"/>
                        </a:solidFill>
                      </a:endParaRPr>
                    </a:p>
                  </a:txBody>
                  <a:tcPr marL="33298" marR="33298" marT="16649" marB="16649" anchor="ctr">
                    <a:lnL>
                      <a:noFill/>
                    </a:lnL>
                    <a:lnR>
                      <a:noFill/>
                    </a:lnR>
                    <a:lnT>
                      <a:noFill/>
                    </a:lnT>
                    <a:lnB>
                      <a:noFill/>
                    </a:lnB>
                    <a:noFill/>
                  </a:tcPr>
                </a:tc>
                <a:extLst>
                  <a:ext uri="{0D108BD9-81ED-4DB2-BD59-A6C34878D82A}">
                    <a16:rowId xmlns:a16="http://schemas.microsoft.com/office/drawing/2014/main" val="2867673486"/>
                  </a:ext>
                </a:extLst>
              </a:tr>
              <a:tr h="127177">
                <a:tc>
                  <a:txBody>
                    <a:bodyPr/>
                    <a:lstStyle/>
                    <a:p>
                      <a:r>
                        <a:rPr lang="es-AR" sz="1600" b="0">
                          <a:solidFill>
                            <a:schemeClr val="bg1"/>
                          </a:solidFill>
                        </a:rPr>
                        <a:t>max_supply</a:t>
                      </a:r>
                    </a:p>
                  </a:txBody>
                  <a:tcPr marL="33298" marR="33298" marT="16649" marB="16649" anchor="ctr">
                    <a:lnL>
                      <a:noFill/>
                    </a:lnL>
                    <a:lnR>
                      <a:noFill/>
                    </a:lnR>
                    <a:lnT>
                      <a:noFill/>
                    </a:lnT>
                    <a:lnB>
                      <a:noFill/>
                    </a:lnB>
                    <a:noFill/>
                  </a:tcPr>
                </a:tc>
                <a:tc>
                  <a:txBody>
                    <a:bodyPr/>
                    <a:lstStyle/>
                    <a:p>
                      <a:r>
                        <a:rPr lang="es-MX" sz="1600" b="0" dirty="0">
                          <a:solidFill>
                            <a:schemeClr val="bg1"/>
                          </a:solidFill>
                        </a:rPr>
                        <a:t>Suministro máximo posible (si está disponible) (medido en unidad de la cripto)</a:t>
                      </a:r>
                    </a:p>
                  </a:txBody>
                  <a:tcPr marL="33298" marR="33298" marT="16649" marB="16649" anchor="ctr">
                    <a:lnL>
                      <a:noFill/>
                    </a:lnL>
                    <a:lnR>
                      <a:noFill/>
                    </a:lnR>
                    <a:lnT>
                      <a:noFill/>
                    </a:lnT>
                    <a:lnB>
                      <a:noFill/>
                    </a:lnB>
                    <a:noFill/>
                  </a:tcPr>
                </a:tc>
                <a:extLst>
                  <a:ext uri="{0D108BD9-81ED-4DB2-BD59-A6C34878D82A}">
                    <a16:rowId xmlns:a16="http://schemas.microsoft.com/office/drawing/2014/main" val="3804860504"/>
                  </a:ext>
                </a:extLst>
              </a:tr>
              <a:tr h="233087">
                <a:tc>
                  <a:txBody>
                    <a:bodyPr/>
                    <a:lstStyle/>
                    <a:p>
                      <a:r>
                        <a:rPr lang="es-AR" sz="1600" b="0">
                          <a:solidFill>
                            <a:schemeClr val="bg1"/>
                          </a:solidFill>
                        </a:rPr>
                        <a:t>circulation_ratio</a:t>
                      </a:r>
                    </a:p>
                  </a:txBody>
                  <a:tcPr marL="33298" marR="33298" marT="16649" marB="16649" anchor="ctr">
                    <a:lnL>
                      <a:noFill/>
                    </a:lnL>
                    <a:lnR>
                      <a:noFill/>
                    </a:lnR>
                    <a:lnT>
                      <a:noFill/>
                    </a:lnT>
                    <a:lnB>
                      <a:noFill/>
                    </a:lnB>
                    <a:noFill/>
                  </a:tcPr>
                </a:tc>
                <a:tc>
                  <a:txBody>
                    <a:bodyPr/>
                    <a:lstStyle/>
                    <a:p>
                      <a:r>
                        <a:rPr lang="es-MX" sz="1600" b="0" dirty="0">
                          <a:solidFill>
                            <a:schemeClr val="bg1"/>
                          </a:solidFill>
                        </a:rPr>
                        <a:t>% del suministro en circulación (</a:t>
                      </a:r>
                      <a:r>
                        <a:rPr lang="es-MX" sz="1600" b="0" dirty="0" err="1">
                          <a:solidFill>
                            <a:schemeClr val="bg1"/>
                          </a:solidFill>
                        </a:rPr>
                        <a:t>circulating_supply</a:t>
                      </a:r>
                      <a:r>
                        <a:rPr lang="es-MX" sz="1600" b="0" dirty="0">
                          <a:solidFill>
                            <a:schemeClr val="bg1"/>
                          </a:solidFill>
                        </a:rPr>
                        <a:t>) sobre el máximo (</a:t>
                      </a:r>
                      <a:r>
                        <a:rPr lang="es-MX" sz="1600" b="0" dirty="0" err="1">
                          <a:solidFill>
                            <a:schemeClr val="bg1"/>
                          </a:solidFill>
                        </a:rPr>
                        <a:t>max_supply</a:t>
                      </a:r>
                      <a:r>
                        <a:rPr lang="es-MX" sz="1600" b="0" dirty="0">
                          <a:solidFill>
                            <a:schemeClr val="bg1"/>
                          </a:solidFill>
                        </a:rPr>
                        <a:t>) (Ej. 0,73 = 73%).</a:t>
                      </a:r>
                    </a:p>
                  </a:txBody>
                  <a:tcPr marL="33298" marR="33298" marT="16649" marB="16649" anchor="ctr">
                    <a:lnL>
                      <a:noFill/>
                    </a:lnL>
                    <a:lnR>
                      <a:noFill/>
                    </a:lnR>
                    <a:lnT>
                      <a:noFill/>
                    </a:lnT>
                    <a:lnB>
                      <a:noFill/>
                    </a:lnB>
                    <a:noFill/>
                  </a:tcPr>
                </a:tc>
                <a:extLst>
                  <a:ext uri="{0D108BD9-81ED-4DB2-BD59-A6C34878D82A}">
                    <a16:rowId xmlns:a16="http://schemas.microsoft.com/office/drawing/2014/main" val="2062819853"/>
                  </a:ext>
                </a:extLst>
              </a:tr>
              <a:tr h="133193">
                <a:tc>
                  <a:txBody>
                    <a:bodyPr/>
                    <a:lstStyle/>
                    <a:p>
                      <a:r>
                        <a:rPr lang="es-AR" sz="1600" b="0">
                          <a:solidFill>
                            <a:schemeClr val="bg1"/>
                          </a:solidFill>
                        </a:rPr>
                        <a:t>ath</a:t>
                      </a:r>
                    </a:p>
                  </a:txBody>
                  <a:tcPr marL="33298" marR="33298" marT="16649" marB="16649" anchor="ctr">
                    <a:lnL>
                      <a:noFill/>
                    </a:lnL>
                    <a:lnR>
                      <a:noFill/>
                    </a:lnR>
                    <a:lnT>
                      <a:noFill/>
                    </a:lnT>
                    <a:lnB>
                      <a:noFill/>
                    </a:lnB>
                    <a:noFill/>
                  </a:tcPr>
                </a:tc>
                <a:tc>
                  <a:txBody>
                    <a:bodyPr/>
                    <a:lstStyle/>
                    <a:p>
                      <a:r>
                        <a:rPr lang="es-AR" sz="1600" b="0" dirty="0">
                          <a:solidFill>
                            <a:schemeClr val="bg1"/>
                          </a:solidFill>
                        </a:rPr>
                        <a:t>Precio máximo histórico (</a:t>
                      </a:r>
                      <a:r>
                        <a:rPr lang="es-AR" sz="1600" b="0" dirty="0" err="1">
                          <a:solidFill>
                            <a:schemeClr val="bg1"/>
                          </a:solidFill>
                        </a:rPr>
                        <a:t>All</a:t>
                      </a:r>
                      <a:r>
                        <a:rPr lang="es-AR" sz="1600" b="0" dirty="0">
                          <a:solidFill>
                            <a:schemeClr val="bg1"/>
                          </a:solidFill>
                        </a:rPr>
                        <a:t>-Time High)</a:t>
                      </a:r>
                    </a:p>
                  </a:txBody>
                  <a:tcPr marL="33298" marR="33298" marT="16649" marB="16649" anchor="ctr">
                    <a:lnL>
                      <a:noFill/>
                    </a:lnL>
                    <a:lnR>
                      <a:noFill/>
                    </a:lnR>
                    <a:lnT>
                      <a:noFill/>
                    </a:lnT>
                    <a:lnB>
                      <a:noFill/>
                    </a:lnB>
                    <a:noFill/>
                  </a:tcPr>
                </a:tc>
                <a:extLst>
                  <a:ext uri="{0D108BD9-81ED-4DB2-BD59-A6C34878D82A}">
                    <a16:rowId xmlns:a16="http://schemas.microsoft.com/office/drawing/2014/main" val="3537604699"/>
                  </a:ext>
                </a:extLst>
              </a:tr>
              <a:tr h="192027">
                <a:tc>
                  <a:txBody>
                    <a:bodyPr/>
                    <a:lstStyle/>
                    <a:p>
                      <a:r>
                        <a:rPr lang="es-AR" sz="1600" b="0" dirty="0" err="1">
                          <a:solidFill>
                            <a:schemeClr val="bg1"/>
                          </a:solidFill>
                        </a:rPr>
                        <a:t>ath_date</a:t>
                      </a:r>
                      <a:endParaRPr lang="es-AR" sz="1600" b="0" dirty="0">
                        <a:solidFill>
                          <a:schemeClr val="bg1"/>
                        </a:solidFill>
                      </a:endParaRPr>
                    </a:p>
                  </a:txBody>
                  <a:tcPr marL="33298" marR="33298" marT="16649" marB="16649" anchor="ctr">
                    <a:lnL>
                      <a:noFill/>
                    </a:lnL>
                    <a:lnR>
                      <a:noFill/>
                    </a:lnR>
                    <a:lnT>
                      <a:noFill/>
                    </a:lnT>
                    <a:lnB>
                      <a:noFill/>
                    </a:lnB>
                    <a:noFill/>
                  </a:tcPr>
                </a:tc>
                <a:tc>
                  <a:txBody>
                    <a:bodyPr/>
                    <a:lstStyle/>
                    <a:p>
                      <a:r>
                        <a:rPr lang="es-MX" sz="1600" b="0" dirty="0">
                          <a:solidFill>
                            <a:schemeClr val="bg1"/>
                          </a:solidFill>
                        </a:rPr>
                        <a:t>Fecha del precio máximo histórico</a:t>
                      </a:r>
                    </a:p>
                  </a:txBody>
                  <a:tcPr marL="33298" marR="33298" marT="16649" marB="16649" anchor="ctr">
                    <a:lnL>
                      <a:noFill/>
                    </a:lnL>
                    <a:lnR>
                      <a:noFill/>
                    </a:lnR>
                    <a:lnT>
                      <a:noFill/>
                    </a:lnT>
                    <a:lnB>
                      <a:noFill/>
                    </a:lnB>
                    <a:noFill/>
                  </a:tcPr>
                </a:tc>
                <a:extLst>
                  <a:ext uri="{0D108BD9-81ED-4DB2-BD59-A6C34878D82A}">
                    <a16:rowId xmlns:a16="http://schemas.microsoft.com/office/drawing/2014/main" val="3297400384"/>
                  </a:ext>
                </a:extLst>
              </a:tr>
              <a:tr h="133193">
                <a:tc>
                  <a:txBody>
                    <a:bodyPr/>
                    <a:lstStyle/>
                    <a:p>
                      <a:r>
                        <a:rPr lang="es-AR" sz="1600" b="0">
                          <a:solidFill>
                            <a:schemeClr val="bg1"/>
                          </a:solidFill>
                        </a:rPr>
                        <a:t>atl</a:t>
                      </a:r>
                    </a:p>
                  </a:txBody>
                  <a:tcPr marL="33298" marR="33298" marT="16649" marB="16649" anchor="ctr">
                    <a:lnL>
                      <a:noFill/>
                    </a:lnL>
                    <a:lnR>
                      <a:noFill/>
                    </a:lnR>
                    <a:lnT>
                      <a:noFill/>
                    </a:lnT>
                    <a:lnB>
                      <a:noFill/>
                    </a:lnB>
                    <a:noFill/>
                  </a:tcPr>
                </a:tc>
                <a:tc>
                  <a:txBody>
                    <a:bodyPr/>
                    <a:lstStyle/>
                    <a:p>
                      <a:r>
                        <a:rPr lang="es-AR" sz="1600" b="0" dirty="0">
                          <a:solidFill>
                            <a:schemeClr val="bg1"/>
                          </a:solidFill>
                        </a:rPr>
                        <a:t>Precio mínimo histórico (</a:t>
                      </a:r>
                      <a:r>
                        <a:rPr lang="es-AR" sz="1600" b="0" dirty="0" err="1">
                          <a:solidFill>
                            <a:schemeClr val="bg1"/>
                          </a:solidFill>
                        </a:rPr>
                        <a:t>All</a:t>
                      </a:r>
                      <a:r>
                        <a:rPr lang="es-AR" sz="1600" b="0" dirty="0">
                          <a:solidFill>
                            <a:schemeClr val="bg1"/>
                          </a:solidFill>
                        </a:rPr>
                        <a:t>-Time Low)</a:t>
                      </a:r>
                    </a:p>
                  </a:txBody>
                  <a:tcPr marL="33298" marR="33298" marT="16649" marB="16649" anchor="ctr">
                    <a:lnL>
                      <a:noFill/>
                    </a:lnL>
                    <a:lnR>
                      <a:noFill/>
                    </a:lnR>
                    <a:lnT>
                      <a:noFill/>
                    </a:lnT>
                    <a:lnB>
                      <a:noFill/>
                    </a:lnB>
                    <a:noFill/>
                  </a:tcPr>
                </a:tc>
                <a:extLst>
                  <a:ext uri="{0D108BD9-81ED-4DB2-BD59-A6C34878D82A}">
                    <a16:rowId xmlns:a16="http://schemas.microsoft.com/office/drawing/2014/main" val="2421799690"/>
                  </a:ext>
                </a:extLst>
              </a:tr>
              <a:tr h="133193">
                <a:tc>
                  <a:txBody>
                    <a:bodyPr/>
                    <a:lstStyle/>
                    <a:p>
                      <a:r>
                        <a:rPr lang="es-AR" sz="1600" b="0" dirty="0" err="1">
                          <a:solidFill>
                            <a:schemeClr val="bg1"/>
                          </a:solidFill>
                        </a:rPr>
                        <a:t>atl_date</a:t>
                      </a:r>
                      <a:endParaRPr lang="es-AR" sz="1600" b="0" dirty="0">
                        <a:solidFill>
                          <a:schemeClr val="bg1"/>
                        </a:solidFill>
                      </a:endParaRPr>
                    </a:p>
                  </a:txBody>
                  <a:tcPr marL="33298" marR="33298" marT="16649" marB="16649" anchor="ctr">
                    <a:lnL>
                      <a:noFill/>
                    </a:lnL>
                    <a:lnR>
                      <a:noFill/>
                    </a:lnR>
                    <a:lnT>
                      <a:noFill/>
                    </a:lnT>
                    <a:lnB>
                      <a:noFill/>
                    </a:lnB>
                    <a:noFill/>
                  </a:tcPr>
                </a:tc>
                <a:tc>
                  <a:txBody>
                    <a:bodyPr/>
                    <a:lstStyle/>
                    <a:p>
                      <a:r>
                        <a:rPr lang="es-MX" sz="1600" b="0" dirty="0">
                          <a:solidFill>
                            <a:schemeClr val="bg1"/>
                          </a:solidFill>
                        </a:rPr>
                        <a:t>Fecha del precio mínimo histórico</a:t>
                      </a:r>
                    </a:p>
                  </a:txBody>
                  <a:tcPr marL="33298" marR="33298" marT="16649" marB="16649" anchor="ctr">
                    <a:lnL>
                      <a:noFill/>
                    </a:lnL>
                    <a:lnR>
                      <a:noFill/>
                    </a:lnR>
                    <a:lnT>
                      <a:noFill/>
                    </a:lnT>
                    <a:lnB>
                      <a:noFill/>
                    </a:lnB>
                    <a:noFill/>
                  </a:tcPr>
                </a:tc>
                <a:extLst>
                  <a:ext uri="{0D108BD9-81ED-4DB2-BD59-A6C34878D82A}">
                    <a16:rowId xmlns:a16="http://schemas.microsoft.com/office/drawing/2014/main" val="3264702079"/>
                  </a:ext>
                </a:extLst>
              </a:tr>
              <a:tr h="133193">
                <a:tc>
                  <a:txBody>
                    <a:bodyPr/>
                    <a:lstStyle/>
                    <a:p>
                      <a:r>
                        <a:rPr lang="es-AR" sz="1600" b="0">
                          <a:solidFill>
                            <a:schemeClr val="bg1"/>
                          </a:solidFill>
                        </a:rPr>
                        <a:t>image</a:t>
                      </a:r>
                    </a:p>
                  </a:txBody>
                  <a:tcPr marL="33298" marR="33298" marT="16649" marB="16649" anchor="ctr">
                    <a:lnL>
                      <a:noFill/>
                    </a:lnL>
                    <a:lnR>
                      <a:noFill/>
                    </a:lnR>
                    <a:lnT>
                      <a:noFill/>
                    </a:lnT>
                    <a:lnB>
                      <a:noFill/>
                    </a:lnB>
                    <a:noFill/>
                  </a:tcPr>
                </a:tc>
                <a:tc>
                  <a:txBody>
                    <a:bodyPr/>
                    <a:lstStyle/>
                    <a:p>
                      <a:r>
                        <a:rPr lang="es-MX" sz="1600" b="0" dirty="0">
                          <a:solidFill>
                            <a:schemeClr val="bg1"/>
                          </a:solidFill>
                        </a:rPr>
                        <a:t>URL de la imagen del logo de la criptomoneda</a:t>
                      </a:r>
                    </a:p>
                  </a:txBody>
                  <a:tcPr marL="33298" marR="33298" marT="16649" marB="16649" anchor="ctr">
                    <a:lnL>
                      <a:noFill/>
                    </a:lnL>
                    <a:lnR>
                      <a:noFill/>
                    </a:lnR>
                    <a:lnT>
                      <a:noFill/>
                    </a:lnT>
                    <a:lnB>
                      <a:noFill/>
                    </a:lnB>
                    <a:noFill/>
                  </a:tcPr>
                </a:tc>
                <a:extLst>
                  <a:ext uri="{0D108BD9-81ED-4DB2-BD59-A6C34878D82A}">
                    <a16:rowId xmlns:a16="http://schemas.microsoft.com/office/drawing/2014/main" val="1038192095"/>
                  </a:ext>
                </a:extLst>
              </a:tr>
              <a:tr h="133193">
                <a:tc>
                  <a:txBody>
                    <a:bodyPr/>
                    <a:lstStyle/>
                    <a:p>
                      <a:r>
                        <a:rPr lang="es-AR" sz="1600" b="0" dirty="0" err="1">
                          <a:solidFill>
                            <a:schemeClr val="bg1"/>
                          </a:solidFill>
                        </a:rPr>
                        <a:t>last_updated</a:t>
                      </a:r>
                      <a:endParaRPr lang="es-AR" sz="1600" b="0" dirty="0">
                        <a:solidFill>
                          <a:schemeClr val="bg1"/>
                        </a:solidFill>
                      </a:endParaRPr>
                    </a:p>
                  </a:txBody>
                  <a:tcPr marL="33298" marR="33298" marT="16649" marB="16649" anchor="ctr">
                    <a:lnL>
                      <a:noFill/>
                    </a:lnL>
                    <a:lnR>
                      <a:noFill/>
                    </a:lnR>
                    <a:lnT>
                      <a:noFill/>
                    </a:lnT>
                    <a:lnB>
                      <a:noFill/>
                    </a:lnB>
                    <a:noFill/>
                  </a:tcPr>
                </a:tc>
                <a:tc>
                  <a:txBody>
                    <a:bodyPr/>
                    <a:lstStyle/>
                    <a:p>
                      <a:r>
                        <a:rPr lang="es-MX" sz="1600" b="0" dirty="0">
                          <a:solidFill>
                            <a:schemeClr val="bg1"/>
                          </a:solidFill>
                        </a:rPr>
                        <a:t>Última fecha de actualización desde la API</a:t>
                      </a:r>
                    </a:p>
                  </a:txBody>
                  <a:tcPr marL="33298" marR="33298" marT="16649" marB="16649" anchor="ctr">
                    <a:lnL>
                      <a:noFill/>
                    </a:lnL>
                    <a:lnR>
                      <a:noFill/>
                    </a:lnR>
                    <a:lnT>
                      <a:noFill/>
                    </a:lnT>
                    <a:lnB>
                      <a:noFill/>
                    </a:lnB>
                    <a:noFill/>
                  </a:tcPr>
                </a:tc>
                <a:extLst>
                  <a:ext uri="{0D108BD9-81ED-4DB2-BD59-A6C34878D82A}">
                    <a16:rowId xmlns:a16="http://schemas.microsoft.com/office/drawing/2014/main" val="203444710"/>
                  </a:ext>
                </a:extLst>
              </a:tr>
            </a:tbl>
          </a:graphicData>
        </a:graphic>
      </p:graphicFrame>
      <p:pic>
        <p:nvPicPr>
          <p:cNvPr id="10" name="Imagen 9" descr="Icono&#10;&#10;El contenido generado por IA puede ser incorrecto.">
            <a:extLst>
              <a:ext uri="{FF2B5EF4-FFF2-40B4-BE49-F238E27FC236}">
                <a16:creationId xmlns:a16="http://schemas.microsoft.com/office/drawing/2014/main" id="{5FE37E95-8CC3-436F-FAD3-43D9824EFD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7500" y="302614"/>
            <a:ext cx="1961613" cy="1961613"/>
          </a:xfrm>
          <a:prstGeom prst="rect">
            <a:avLst/>
          </a:prstGeom>
        </p:spPr>
      </p:pic>
    </p:spTree>
    <p:extLst>
      <p:ext uri="{BB962C8B-B14F-4D97-AF65-F5344CB8AC3E}">
        <p14:creationId xmlns:p14="http://schemas.microsoft.com/office/powerpoint/2010/main" val="961044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D4AA10-66D4-0F5C-6BF7-595ADAB3411F}"/>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D8B0700D-4C85-5C35-FA8E-D646358DBE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8A13D20-E1B2-2244-4730-5CC544FC5C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3F80B1F2-7DE9-66EA-3081-AE04B595D7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765BAAC-9F74-6876-5C59-6588BEE44F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B7FA4CCF-D90C-9119-1850-F10985651D96}"/>
              </a:ext>
            </a:extLst>
          </p:cNvPr>
          <p:cNvSpPr/>
          <p:nvPr/>
        </p:nvSpPr>
        <p:spPr>
          <a:xfrm>
            <a:off x="751114" y="5025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Rectángulo 6">
            <a:extLst>
              <a:ext uri="{FF2B5EF4-FFF2-40B4-BE49-F238E27FC236}">
                <a16:creationId xmlns:a16="http://schemas.microsoft.com/office/drawing/2014/main" id="{841B56ED-65A8-3B02-ADBC-31E6EDB5D2DE}"/>
              </a:ext>
            </a:extLst>
          </p:cNvPr>
          <p:cNvSpPr/>
          <p:nvPr/>
        </p:nvSpPr>
        <p:spPr>
          <a:xfrm>
            <a:off x="7052734" y="63243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CuadroTexto 1">
            <a:extLst>
              <a:ext uri="{FF2B5EF4-FFF2-40B4-BE49-F238E27FC236}">
                <a16:creationId xmlns:a16="http://schemas.microsoft.com/office/drawing/2014/main" id="{9E5E9B11-3CC0-43D8-407C-E4709648D020}"/>
              </a:ext>
            </a:extLst>
          </p:cNvPr>
          <p:cNvSpPr txBox="1"/>
          <p:nvPr/>
        </p:nvSpPr>
        <p:spPr>
          <a:xfrm>
            <a:off x="751114" y="636789"/>
            <a:ext cx="4789716" cy="646331"/>
          </a:xfrm>
          <a:prstGeom prst="rect">
            <a:avLst/>
          </a:prstGeom>
          <a:noFill/>
        </p:spPr>
        <p:txBody>
          <a:bodyPr wrap="square" rtlCol="0">
            <a:spAutoFit/>
          </a:bodyPr>
          <a:lstStyle/>
          <a:p>
            <a:r>
              <a:rPr lang="es-MX" sz="3600" b="1" dirty="0">
                <a:solidFill>
                  <a:schemeClr val="bg1"/>
                </a:solidFill>
              </a:rPr>
              <a:t>Preguntas de interés</a:t>
            </a:r>
          </a:p>
        </p:txBody>
      </p:sp>
      <p:sp>
        <p:nvSpPr>
          <p:cNvPr id="4" name="Rectangle 1">
            <a:extLst>
              <a:ext uri="{FF2B5EF4-FFF2-40B4-BE49-F238E27FC236}">
                <a16:creationId xmlns:a16="http://schemas.microsoft.com/office/drawing/2014/main" id="{238F69FA-4CCF-1E1E-0A21-4304D547C4A6}"/>
              </a:ext>
            </a:extLst>
          </p:cNvPr>
          <p:cNvSpPr>
            <a:spLocks noChangeArrowheads="1"/>
          </p:cNvSpPr>
          <p:nvPr/>
        </p:nvSpPr>
        <p:spPr bwMode="auto">
          <a:xfrm>
            <a:off x="751114" y="1376179"/>
            <a:ext cx="9468058"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MX" dirty="0">
                <a:solidFill>
                  <a:schemeClr val="bg1"/>
                </a:solidFill>
              </a:rPr>
              <a:t>¿Qué criptomonedas presentan mayor capitalización de mercado promedio en los últimos 90 días?</a:t>
            </a:r>
          </a:p>
          <a:p>
            <a:r>
              <a:rPr lang="es-MX" dirty="0">
                <a:solidFill>
                  <a:schemeClr val="bg1"/>
                </a:solidFill>
              </a:rPr>
              <a:t>¿Cuál ha sido el comportamiento del precio de las principales criptomonedas en el tiempo?</a:t>
            </a:r>
          </a:p>
          <a:p>
            <a:r>
              <a:rPr lang="es-MX" dirty="0">
                <a:solidFill>
                  <a:schemeClr val="bg1"/>
                </a:solidFill>
              </a:rPr>
              <a:t>¿Existen criptomonedas que evolucionan de forma similar (positiva o negativa) a lo largo del tiempo?</a:t>
            </a:r>
          </a:p>
          <a:p>
            <a:r>
              <a:rPr lang="es-MX" dirty="0">
                <a:solidFill>
                  <a:schemeClr val="bg1"/>
                </a:solidFill>
              </a:rPr>
              <a:t>¿Cuál es la relación entre el volumen de operaciones y el precio diario?</a:t>
            </a:r>
          </a:p>
          <a:p>
            <a:r>
              <a:rPr lang="es-MX" dirty="0">
                <a:solidFill>
                  <a:schemeClr val="bg1"/>
                </a:solidFill>
              </a:rPr>
              <a:t>¿Qué tan volátil ha sido cada criptomoneda en el periodo analizado?</a:t>
            </a:r>
          </a:p>
          <a:p>
            <a:r>
              <a:rPr lang="es-MX" dirty="0">
                <a:solidFill>
                  <a:schemeClr val="bg1"/>
                </a:solidFill>
              </a:rPr>
              <a:t>¿Cómo se comporta el precio de una criptomoneda frente a movimientos bruscos en otra?</a:t>
            </a:r>
          </a:p>
          <a:p>
            <a:r>
              <a:rPr lang="es-MX" dirty="0">
                <a:solidFill>
                  <a:schemeClr val="bg1"/>
                </a:solidFill>
              </a:rPr>
              <a:t>¿Qué criptomonedas muestran una recuperación más rápida tras caídas significativas?</a:t>
            </a:r>
          </a:p>
        </p:txBody>
      </p:sp>
      <p:pic>
        <p:nvPicPr>
          <p:cNvPr id="5" name="Imagen 4" descr="Icono&#10;&#10;El contenido generado por IA puede ser incorrecto.">
            <a:extLst>
              <a:ext uri="{FF2B5EF4-FFF2-40B4-BE49-F238E27FC236}">
                <a16:creationId xmlns:a16="http://schemas.microsoft.com/office/drawing/2014/main" id="{820BB2B2-0014-7F5C-5129-E506EE5870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11038" y="192123"/>
            <a:ext cx="1974133" cy="1974133"/>
          </a:xfrm>
          <a:prstGeom prst="rect">
            <a:avLst/>
          </a:prstGeom>
        </p:spPr>
      </p:pic>
      <p:sp>
        <p:nvSpPr>
          <p:cNvPr id="11" name="CuadroTexto 10">
            <a:extLst>
              <a:ext uri="{FF2B5EF4-FFF2-40B4-BE49-F238E27FC236}">
                <a16:creationId xmlns:a16="http://schemas.microsoft.com/office/drawing/2014/main" id="{874061F6-F9FD-9D68-BFF6-D3D4CC35F1AC}"/>
              </a:ext>
            </a:extLst>
          </p:cNvPr>
          <p:cNvSpPr txBox="1"/>
          <p:nvPr/>
        </p:nvSpPr>
        <p:spPr>
          <a:xfrm>
            <a:off x="896862" y="5019196"/>
            <a:ext cx="9322310" cy="707886"/>
          </a:xfrm>
          <a:prstGeom prst="rect">
            <a:avLst/>
          </a:prstGeom>
          <a:noFill/>
        </p:spPr>
        <p:txBody>
          <a:bodyPr wrap="square">
            <a:spAutoFit/>
          </a:bodyPr>
          <a:lstStyle/>
          <a:p>
            <a:r>
              <a:rPr lang="es-MX" sz="2000" b="1" i="0" dirty="0">
                <a:solidFill>
                  <a:schemeClr val="bg1"/>
                </a:solidFill>
                <a:effectLst/>
                <a:latin typeface="Roboto" panose="02000000000000000000" pitchFamily="2" charset="0"/>
              </a:rPr>
              <a:t>"Las criptomonedas con mayor capitalización de mercado presentan menor volatilidad de precios que aquellas con menor capitalización."</a:t>
            </a:r>
            <a:endParaRPr lang="es-AR" sz="2000" dirty="0">
              <a:solidFill>
                <a:schemeClr val="bg1"/>
              </a:solidFill>
            </a:endParaRPr>
          </a:p>
        </p:txBody>
      </p:sp>
      <p:sp>
        <p:nvSpPr>
          <p:cNvPr id="12" name="CuadroTexto 11">
            <a:extLst>
              <a:ext uri="{FF2B5EF4-FFF2-40B4-BE49-F238E27FC236}">
                <a16:creationId xmlns:a16="http://schemas.microsoft.com/office/drawing/2014/main" id="{D3AEC7B6-16C2-6178-1CF7-BFF9F8AC3BE7}"/>
              </a:ext>
            </a:extLst>
          </p:cNvPr>
          <p:cNvSpPr txBox="1"/>
          <p:nvPr/>
        </p:nvSpPr>
        <p:spPr>
          <a:xfrm>
            <a:off x="896862" y="4366573"/>
            <a:ext cx="2684537" cy="584775"/>
          </a:xfrm>
          <a:prstGeom prst="rect">
            <a:avLst/>
          </a:prstGeom>
          <a:noFill/>
        </p:spPr>
        <p:txBody>
          <a:bodyPr wrap="square" rtlCol="0">
            <a:spAutoFit/>
          </a:bodyPr>
          <a:lstStyle/>
          <a:p>
            <a:r>
              <a:rPr lang="es-MX" sz="3200" b="1" dirty="0">
                <a:solidFill>
                  <a:schemeClr val="bg1"/>
                </a:solidFill>
              </a:rPr>
              <a:t>HIPÓTESIS</a:t>
            </a:r>
          </a:p>
        </p:txBody>
      </p:sp>
    </p:spTree>
    <p:extLst>
      <p:ext uri="{BB962C8B-B14F-4D97-AF65-F5344CB8AC3E}">
        <p14:creationId xmlns:p14="http://schemas.microsoft.com/office/powerpoint/2010/main" val="3049183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99E7EB-FDA2-6770-504C-ADDD59122760}"/>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24591BE9-8CCB-C70E-184E-0740C8F656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BEA380C-A582-7D16-E3C8-F72301E5CE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984E95CE-0333-4991-4402-427C9F544D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8F9F2D8-931E-03D1-0018-BB30A225D4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BFE0AD24-3279-90BF-B865-D98A0E86FE23}"/>
              </a:ext>
            </a:extLst>
          </p:cNvPr>
          <p:cNvSpPr/>
          <p:nvPr/>
        </p:nvSpPr>
        <p:spPr>
          <a:xfrm>
            <a:off x="751114" y="5025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Rectángulo 6">
            <a:extLst>
              <a:ext uri="{FF2B5EF4-FFF2-40B4-BE49-F238E27FC236}">
                <a16:creationId xmlns:a16="http://schemas.microsoft.com/office/drawing/2014/main" id="{8B858DBE-821D-2397-C1E8-57974A217FED}"/>
              </a:ext>
            </a:extLst>
          </p:cNvPr>
          <p:cNvSpPr/>
          <p:nvPr/>
        </p:nvSpPr>
        <p:spPr>
          <a:xfrm>
            <a:off x="7052734" y="63243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CuadroTexto 1">
            <a:extLst>
              <a:ext uri="{FF2B5EF4-FFF2-40B4-BE49-F238E27FC236}">
                <a16:creationId xmlns:a16="http://schemas.microsoft.com/office/drawing/2014/main" id="{E2CC0A1B-36CE-2B00-0E36-F8BDF3B7ADEF}"/>
              </a:ext>
            </a:extLst>
          </p:cNvPr>
          <p:cNvSpPr txBox="1"/>
          <p:nvPr/>
        </p:nvSpPr>
        <p:spPr>
          <a:xfrm>
            <a:off x="695427" y="662000"/>
            <a:ext cx="4789716" cy="646331"/>
          </a:xfrm>
          <a:prstGeom prst="rect">
            <a:avLst/>
          </a:prstGeom>
          <a:noFill/>
        </p:spPr>
        <p:txBody>
          <a:bodyPr wrap="square" rtlCol="0">
            <a:spAutoFit/>
          </a:bodyPr>
          <a:lstStyle/>
          <a:p>
            <a:r>
              <a:rPr lang="es-AR" sz="3600" b="1" dirty="0">
                <a:solidFill>
                  <a:schemeClr val="bg1"/>
                </a:solidFill>
              </a:rPr>
              <a:t>Insights</a:t>
            </a:r>
            <a:endParaRPr lang="es-MX" sz="3600" b="1" dirty="0">
              <a:solidFill>
                <a:schemeClr val="bg1"/>
              </a:solidFill>
            </a:endParaRPr>
          </a:p>
        </p:txBody>
      </p:sp>
      <p:sp>
        <p:nvSpPr>
          <p:cNvPr id="4" name="Rectangle 1">
            <a:extLst>
              <a:ext uri="{FF2B5EF4-FFF2-40B4-BE49-F238E27FC236}">
                <a16:creationId xmlns:a16="http://schemas.microsoft.com/office/drawing/2014/main" id="{9E90B813-A00E-33FA-C4A0-94CF58A7B555}"/>
              </a:ext>
            </a:extLst>
          </p:cNvPr>
          <p:cNvSpPr>
            <a:spLocks noChangeArrowheads="1"/>
          </p:cNvSpPr>
          <p:nvPr/>
        </p:nvSpPr>
        <p:spPr bwMode="auto">
          <a:xfrm>
            <a:off x="6257613" y="2038769"/>
            <a:ext cx="4123172"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MX" dirty="0">
                <a:solidFill>
                  <a:schemeClr val="bg1"/>
                </a:solidFill>
              </a:rPr>
              <a:t>El gráfico muestra claramente el dominio de Bitcoin en el mercado cripto, representando el </a:t>
            </a:r>
            <a:r>
              <a:rPr lang="es-MX" b="1" dirty="0">
                <a:solidFill>
                  <a:schemeClr val="bg1"/>
                </a:solidFill>
              </a:rPr>
              <a:t>74,5%</a:t>
            </a:r>
            <a:r>
              <a:rPr lang="es-MX" dirty="0">
                <a:solidFill>
                  <a:schemeClr val="bg1"/>
                </a:solidFill>
              </a:rPr>
              <a:t> de la capitalización total entre las criptomonedas analizadas. Le sigue Ethereum con un </a:t>
            </a:r>
            <a:r>
              <a:rPr lang="es-MX" b="1" dirty="0">
                <a:solidFill>
                  <a:schemeClr val="bg1"/>
                </a:solidFill>
              </a:rPr>
              <a:t>11,2%</a:t>
            </a:r>
            <a:r>
              <a:rPr lang="es-MX" dirty="0">
                <a:solidFill>
                  <a:schemeClr val="bg1"/>
                </a:solidFill>
              </a:rPr>
              <a:t>, mientras que el </a:t>
            </a:r>
            <a:r>
              <a:rPr lang="es-MX" b="1" dirty="0">
                <a:solidFill>
                  <a:schemeClr val="bg1"/>
                </a:solidFill>
              </a:rPr>
              <a:t>resto de las 8 criptomonedas combinadas</a:t>
            </a:r>
            <a:r>
              <a:rPr lang="es-MX" dirty="0">
                <a:solidFill>
                  <a:schemeClr val="bg1"/>
                </a:solidFill>
              </a:rPr>
              <a:t> apenas alcanza un </a:t>
            </a:r>
            <a:r>
              <a:rPr lang="es-MX" b="1" dirty="0">
                <a:solidFill>
                  <a:schemeClr val="bg1"/>
                </a:solidFill>
              </a:rPr>
              <a:t>14,3%</a:t>
            </a:r>
            <a:r>
              <a:rPr lang="es-MX" dirty="0">
                <a:solidFill>
                  <a:schemeClr val="bg1"/>
                </a:solidFill>
              </a:rPr>
              <a:t>.</a:t>
            </a:r>
            <a:br>
              <a:rPr lang="es-MX" dirty="0">
                <a:solidFill>
                  <a:schemeClr val="bg1"/>
                </a:solidFill>
              </a:rPr>
            </a:br>
            <a:r>
              <a:rPr lang="es-MX" dirty="0">
                <a:solidFill>
                  <a:schemeClr val="bg1"/>
                </a:solidFill>
              </a:rPr>
              <a:t>Esto destaca la alta concentración del valor de mercado en un pequeño número de activos, lo que puede tener implicancias clave para decisiones de inversión y análisis de riesgo.</a:t>
            </a:r>
          </a:p>
        </p:txBody>
      </p:sp>
      <p:pic>
        <p:nvPicPr>
          <p:cNvPr id="8" name="Imagen 7" descr="Forma, Círculo&#10;&#10;El contenido generado por IA puede ser incorrecto.">
            <a:extLst>
              <a:ext uri="{FF2B5EF4-FFF2-40B4-BE49-F238E27FC236}">
                <a16:creationId xmlns:a16="http://schemas.microsoft.com/office/drawing/2014/main" id="{8C724189-C1BE-794C-6825-532B8DD59E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0057" y="76302"/>
            <a:ext cx="2982685" cy="1789611"/>
          </a:xfrm>
          <a:prstGeom prst="rect">
            <a:avLst/>
          </a:prstGeom>
        </p:spPr>
      </p:pic>
      <p:pic>
        <p:nvPicPr>
          <p:cNvPr id="10" name="Imagen 9" descr="Gráfico, Gráfico circular&#10;&#10;El contenido generado por IA puede ser incorrecto.">
            <a:extLst>
              <a:ext uri="{FF2B5EF4-FFF2-40B4-BE49-F238E27FC236}">
                <a16:creationId xmlns:a16="http://schemas.microsoft.com/office/drawing/2014/main" id="{D5C6D526-6E53-3A39-D7EC-78D1F5409F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114" y="2102346"/>
            <a:ext cx="4946914" cy="3566167"/>
          </a:xfrm>
          <a:prstGeom prst="rect">
            <a:avLst/>
          </a:prstGeom>
        </p:spPr>
      </p:pic>
      <p:sp>
        <p:nvSpPr>
          <p:cNvPr id="14" name="CuadroTexto 13">
            <a:extLst>
              <a:ext uri="{FF2B5EF4-FFF2-40B4-BE49-F238E27FC236}">
                <a16:creationId xmlns:a16="http://schemas.microsoft.com/office/drawing/2014/main" id="{8929C8C6-9B45-0FD8-AF3C-DD14B4B9BAD1}"/>
              </a:ext>
            </a:extLst>
          </p:cNvPr>
          <p:cNvSpPr txBox="1"/>
          <p:nvPr/>
        </p:nvSpPr>
        <p:spPr>
          <a:xfrm>
            <a:off x="723485" y="1412423"/>
            <a:ext cx="5534128" cy="369332"/>
          </a:xfrm>
          <a:prstGeom prst="rect">
            <a:avLst/>
          </a:prstGeom>
          <a:noFill/>
        </p:spPr>
        <p:txBody>
          <a:bodyPr wrap="square">
            <a:spAutoFit/>
          </a:bodyPr>
          <a:lstStyle/>
          <a:p>
            <a:r>
              <a:rPr lang="es-MX" b="1" dirty="0">
                <a:solidFill>
                  <a:schemeClr val="bg1"/>
                </a:solidFill>
              </a:rPr>
              <a:t>Alta concentración en la capitalización de mercado:</a:t>
            </a:r>
            <a:endParaRPr lang="es-AR" b="1" dirty="0">
              <a:solidFill>
                <a:schemeClr val="bg1"/>
              </a:solidFill>
            </a:endParaRPr>
          </a:p>
        </p:txBody>
      </p:sp>
    </p:spTree>
    <p:extLst>
      <p:ext uri="{BB962C8B-B14F-4D97-AF65-F5344CB8AC3E}">
        <p14:creationId xmlns:p14="http://schemas.microsoft.com/office/powerpoint/2010/main" val="4082482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999B5A-7CE2-016C-0EA5-949168535E92}"/>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41D05842-AD02-D38E-13FA-564B7BB534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D43B7CB-FA85-2190-8AB3-FF277A6657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BC889D4A-7136-4983-D220-9BCF564E2C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D772F2C-2C3E-1F73-43F1-CCB4FB2E3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00E86128-FB5C-2491-1DA8-810209E2F7CD}"/>
              </a:ext>
            </a:extLst>
          </p:cNvPr>
          <p:cNvSpPr/>
          <p:nvPr/>
        </p:nvSpPr>
        <p:spPr>
          <a:xfrm>
            <a:off x="751114" y="5025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Rectángulo 6">
            <a:extLst>
              <a:ext uri="{FF2B5EF4-FFF2-40B4-BE49-F238E27FC236}">
                <a16:creationId xmlns:a16="http://schemas.microsoft.com/office/drawing/2014/main" id="{A6393A6E-44B7-D7D5-831C-57F7C1F0F42E}"/>
              </a:ext>
            </a:extLst>
          </p:cNvPr>
          <p:cNvSpPr/>
          <p:nvPr/>
        </p:nvSpPr>
        <p:spPr>
          <a:xfrm>
            <a:off x="7052734" y="63243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CuadroTexto 1">
            <a:extLst>
              <a:ext uri="{FF2B5EF4-FFF2-40B4-BE49-F238E27FC236}">
                <a16:creationId xmlns:a16="http://schemas.microsoft.com/office/drawing/2014/main" id="{FBA4665D-5CC6-641C-3C8B-3EE1056BCA19}"/>
              </a:ext>
            </a:extLst>
          </p:cNvPr>
          <p:cNvSpPr txBox="1"/>
          <p:nvPr/>
        </p:nvSpPr>
        <p:spPr>
          <a:xfrm>
            <a:off x="751114" y="563567"/>
            <a:ext cx="2296886" cy="646331"/>
          </a:xfrm>
          <a:prstGeom prst="rect">
            <a:avLst/>
          </a:prstGeom>
          <a:noFill/>
        </p:spPr>
        <p:txBody>
          <a:bodyPr wrap="square" rtlCol="0">
            <a:spAutoFit/>
          </a:bodyPr>
          <a:lstStyle/>
          <a:p>
            <a:r>
              <a:rPr lang="es-AR" sz="3600" b="1" dirty="0">
                <a:solidFill>
                  <a:schemeClr val="bg1"/>
                </a:solidFill>
              </a:rPr>
              <a:t>Insights</a:t>
            </a:r>
            <a:endParaRPr lang="es-MX" sz="3600" b="1" dirty="0">
              <a:solidFill>
                <a:schemeClr val="bg1"/>
              </a:solidFill>
            </a:endParaRPr>
          </a:p>
        </p:txBody>
      </p:sp>
      <p:sp>
        <p:nvSpPr>
          <p:cNvPr id="4" name="Rectangle 1">
            <a:extLst>
              <a:ext uri="{FF2B5EF4-FFF2-40B4-BE49-F238E27FC236}">
                <a16:creationId xmlns:a16="http://schemas.microsoft.com/office/drawing/2014/main" id="{B709725C-9DB4-A901-CFA4-B53937169BF9}"/>
              </a:ext>
            </a:extLst>
          </p:cNvPr>
          <p:cNvSpPr>
            <a:spLocks noChangeArrowheads="1"/>
          </p:cNvSpPr>
          <p:nvPr/>
        </p:nvSpPr>
        <p:spPr bwMode="auto">
          <a:xfrm>
            <a:off x="6908217" y="1252085"/>
            <a:ext cx="3537859" cy="2246769"/>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AR" sz="2000" b="1" dirty="0">
                <a:solidFill>
                  <a:schemeClr val="bg1"/>
                </a:solidFill>
              </a:rPr>
              <a:t>Pares de criptomonedas con alta correlación (&gt; 0.7): </a:t>
            </a:r>
          </a:p>
          <a:p>
            <a:r>
              <a:rPr lang="es-AR" sz="2000" dirty="0">
                <a:solidFill>
                  <a:schemeClr val="bg1"/>
                </a:solidFill>
              </a:rPr>
              <a:t>Bitcoin Ethereum 0.80 </a:t>
            </a:r>
          </a:p>
          <a:p>
            <a:r>
              <a:rPr lang="es-AR" sz="2000" dirty="0">
                <a:solidFill>
                  <a:schemeClr val="bg1"/>
                </a:solidFill>
              </a:rPr>
              <a:t>Bitcoin Solana 0.76 </a:t>
            </a:r>
          </a:p>
          <a:p>
            <a:r>
              <a:rPr lang="es-AR" sz="2000" dirty="0">
                <a:solidFill>
                  <a:schemeClr val="bg1"/>
                </a:solidFill>
              </a:rPr>
              <a:t>Bitcoin Dogecoin 0.73 </a:t>
            </a:r>
          </a:p>
          <a:p>
            <a:r>
              <a:rPr lang="es-AR" sz="2000" dirty="0">
                <a:solidFill>
                  <a:schemeClr val="bg1"/>
                </a:solidFill>
              </a:rPr>
              <a:t>Solana Ethereum 0.72 </a:t>
            </a:r>
          </a:p>
          <a:p>
            <a:r>
              <a:rPr lang="es-AR" sz="2000" dirty="0">
                <a:solidFill>
                  <a:schemeClr val="bg1"/>
                </a:solidFill>
              </a:rPr>
              <a:t>Ethereum Polkadot 0.71</a:t>
            </a:r>
            <a:endParaRPr lang="es-MX" sz="2000" dirty="0">
              <a:solidFill>
                <a:schemeClr val="bg1"/>
              </a:solidFill>
            </a:endParaRPr>
          </a:p>
        </p:txBody>
      </p:sp>
      <p:pic>
        <p:nvPicPr>
          <p:cNvPr id="10" name="Imagen 9">
            <a:extLst>
              <a:ext uri="{FF2B5EF4-FFF2-40B4-BE49-F238E27FC236}">
                <a16:creationId xmlns:a16="http://schemas.microsoft.com/office/drawing/2014/main" id="{325E6F4E-DFEF-39B1-7FDB-DE7F19FAF5E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85056" y="1252085"/>
            <a:ext cx="6455229" cy="5570809"/>
          </a:xfrm>
          <a:prstGeom prst="rect">
            <a:avLst/>
          </a:prstGeom>
        </p:spPr>
      </p:pic>
      <p:pic>
        <p:nvPicPr>
          <p:cNvPr id="3" name="Imagen 2" descr="Logotipo, Icono&#10;&#10;El contenido generado por IA puede ser incorrecto.">
            <a:extLst>
              <a:ext uri="{FF2B5EF4-FFF2-40B4-BE49-F238E27FC236}">
                <a16:creationId xmlns:a16="http://schemas.microsoft.com/office/drawing/2014/main" id="{8D20CFB8-E616-1B48-E9B9-55AC0FA63B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5533" y="211016"/>
            <a:ext cx="1393371" cy="1393371"/>
          </a:xfrm>
          <a:prstGeom prst="rect">
            <a:avLst/>
          </a:prstGeom>
        </p:spPr>
      </p:pic>
      <p:sp>
        <p:nvSpPr>
          <p:cNvPr id="9" name="Rectangle 1">
            <a:extLst>
              <a:ext uri="{FF2B5EF4-FFF2-40B4-BE49-F238E27FC236}">
                <a16:creationId xmlns:a16="http://schemas.microsoft.com/office/drawing/2014/main" id="{C11FBAC5-4671-76B3-196F-A8E6A5B787DA}"/>
              </a:ext>
            </a:extLst>
          </p:cNvPr>
          <p:cNvSpPr>
            <a:spLocks noChangeArrowheads="1"/>
          </p:cNvSpPr>
          <p:nvPr/>
        </p:nvSpPr>
        <p:spPr bwMode="auto">
          <a:xfrm>
            <a:off x="6889820" y="3611613"/>
            <a:ext cx="505264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MX" dirty="0">
                <a:solidFill>
                  <a:schemeClr val="bg1"/>
                </a:solidFill>
              </a:rPr>
              <a:t>Se identificaron </a:t>
            </a:r>
            <a:r>
              <a:rPr lang="es-MX" b="1" dirty="0">
                <a:solidFill>
                  <a:schemeClr val="bg1"/>
                </a:solidFill>
              </a:rPr>
              <a:t>pares de criptomonedas con correlaciones superiores a 0.70</a:t>
            </a:r>
            <a:r>
              <a:rPr lang="es-MX" dirty="0">
                <a:solidFill>
                  <a:schemeClr val="bg1"/>
                </a:solidFill>
              </a:rPr>
              <a:t>, lo que indica que tienden a moverse en la misma dirección. Por ejemplo, </a:t>
            </a:r>
            <a:r>
              <a:rPr lang="es-MX" b="1" dirty="0">
                <a:solidFill>
                  <a:schemeClr val="bg1"/>
                </a:solidFill>
              </a:rPr>
              <a:t>Bitcoin y Ethereum</a:t>
            </a:r>
            <a:r>
              <a:rPr lang="es-MX" dirty="0">
                <a:solidFill>
                  <a:schemeClr val="bg1"/>
                </a:solidFill>
              </a:rPr>
              <a:t> presentan una correlación de </a:t>
            </a:r>
            <a:r>
              <a:rPr lang="es-MX" b="1" dirty="0">
                <a:solidFill>
                  <a:schemeClr val="bg1"/>
                </a:solidFill>
              </a:rPr>
              <a:t>0.80</a:t>
            </a:r>
            <a:r>
              <a:rPr lang="es-MX" dirty="0">
                <a:solidFill>
                  <a:schemeClr val="bg1"/>
                </a:solidFill>
              </a:rPr>
              <a:t>, la más alta del análisis.</a:t>
            </a:r>
            <a:br>
              <a:rPr lang="es-MX" dirty="0">
                <a:solidFill>
                  <a:schemeClr val="bg1"/>
                </a:solidFill>
              </a:rPr>
            </a:br>
            <a:r>
              <a:rPr lang="es-MX" dirty="0">
                <a:solidFill>
                  <a:schemeClr val="bg1"/>
                </a:solidFill>
              </a:rPr>
              <a:t>Esto sugiere que ciertos activos comparten comportamientos de mercado similares, lo cual es relevante para estrategias de diversificación y análisis de riesgo en carteras de inversión.</a:t>
            </a:r>
          </a:p>
        </p:txBody>
      </p:sp>
    </p:spTree>
    <p:extLst>
      <p:ext uri="{BB962C8B-B14F-4D97-AF65-F5344CB8AC3E}">
        <p14:creationId xmlns:p14="http://schemas.microsoft.com/office/powerpoint/2010/main" val="2793660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4B3BD0-EA37-762E-266C-7DB0BF93FD12}"/>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43AEB8DA-675F-EF91-1900-91F976210B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9F91786-3FE3-939C-61F2-23003DB286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00099345-B4AC-9E54-15CD-5CE1D7B8E3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5A85591-F9CE-443B-58BF-78B2B3CED9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C75346FF-7F02-7ADC-30AE-A526C98F2ADF}"/>
              </a:ext>
            </a:extLst>
          </p:cNvPr>
          <p:cNvSpPr/>
          <p:nvPr/>
        </p:nvSpPr>
        <p:spPr>
          <a:xfrm>
            <a:off x="751114" y="5025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Rectángulo 6">
            <a:extLst>
              <a:ext uri="{FF2B5EF4-FFF2-40B4-BE49-F238E27FC236}">
                <a16:creationId xmlns:a16="http://schemas.microsoft.com/office/drawing/2014/main" id="{9417F4F9-152F-584D-CA47-0E47CCFF36E4}"/>
              </a:ext>
            </a:extLst>
          </p:cNvPr>
          <p:cNvSpPr/>
          <p:nvPr/>
        </p:nvSpPr>
        <p:spPr>
          <a:xfrm>
            <a:off x="7052734" y="63243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CuadroTexto 1">
            <a:extLst>
              <a:ext uri="{FF2B5EF4-FFF2-40B4-BE49-F238E27FC236}">
                <a16:creationId xmlns:a16="http://schemas.microsoft.com/office/drawing/2014/main" id="{0187334B-DA2A-FE01-5F98-018CBFB5DAE6}"/>
              </a:ext>
            </a:extLst>
          </p:cNvPr>
          <p:cNvSpPr txBox="1"/>
          <p:nvPr/>
        </p:nvSpPr>
        <p:spPr>
          <a:xfrm>
            <a:off x="695427" y="662000"/>
            <a:ext cx="4789716" cy="646331"/>
          </a:xfrm>
          <a:prstGeom prst="rect">
            <a:avLst/>
          </a:prstGeom>
          <a:noFill/>
        </p:spPr>
        <p:txBody>
          <a:bodyPr wrap="square" rtlCol="0">
            <a:spAutoFit/>
          </a:bodyPr>
          <a:lstStyle/>
          <a:p>
            <a:r>
              <a:rPr lang="es-AR" sz="3600" b="1" dirty="0">
                <a:solidFill>
                  <a:schemeClr val="bg1"/>
                </a:solidFill>
              </a:rPr>
              <a:t>Insights</a:t>
            </a:r>
            <a:endParaRPr lang="es-MX" sz="3600" b="1" dirty="0">
              <a:solidFill>
                <a:schemeClr val="bg1"/>
              </a:solidFill>
            </a:endParaRPr>
          </a:p>
        </p:txBody>
      </p:sp>
      <p:sp>
        <p:nvSpPr>
          <p:cNvPr id="4" name="Rectangle 1">
            <a:extLst>
              <a:ext uri="{FF2B5EF4-FFF2-40B4-BE49-F238E27FC236}">
                <a16:creationId xmlns:a16="http://schemas.microsoft.com/office/drawing/2014/main" id="{ABB1B8A5-BBF0-BCEE-346A-65A0933FAEEE}"/>
              </a:ext>
            </a:extLst>
          </p:cNvPr>
          <p:cNvSpPr>
            <a:spLocks noChangeArrowheads="1"/>
          </p:cNvSpPr>
          <p:nvPr/>
        </p:nvSpPr>
        <p:spPr bwMode="auto">
          <a:xfrm>
            <a:off x="695427" y="5092279"/>
            <a:ext cx="1147032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MX" sz="1600" dirty="0">
                <a:solidFill>
                  <a:schemeClr val="bg1"/>
                </a:solidFill>
              </a:rPr>
              <a:t>Las criptomonedas se caracterizan por una </a:t>
            </a:r>
            <a:r>
              <a:rPr lang="es-MX" sz="1600" b="1" dirty="0">
                <a:solidFill>
                  <a:schemeClr val="bg1"/>
                </a:solidFill>
              </a:rPr>
              <a:t>alta volatilidad</a:t>
            </a:r>
            <a:r>
              <a:rPr lang="es-MX" sz="1600" dirty="0">
                <a:solidFill>
                  <a:schemeClr val="bg1"/>
                </a:solidFill>
              </a:rPr>
              <a:t>, es decir, presentan </a:t>
            </a:r>
            <a:r>
              <a:rPr lang="es-MX" sz="1600" b="1" dirty="0">
                <a:solidFill>
                  <a:schemeClr val="bg1"/>
                </a:solidFill>
              </a:rPr>
              <a:t>fuertes fluctuaciones en sus precios diarios</a:t>
            </a:r>
            <a:r>
              <a:rPr lang="es-MX" sz="1600" dirty="0">
                <a:solidFill>
                  <a:schemeClr val="bg1"/>
                </a:solidFill>
              </a:rPr>
              <a:t>. Esta inestabilidad puede representar </a:t>
            </a:r>
            <a:r>
              <a:rPr lang="es-MX" sz="1600" b="1" dirty="0">
                <a:solidFill>
                  <a:schemeClr val="bg1"/>
                </a:solidFill>
              </a:rPr>
              <a:t>riesgos significativos</a:t>
            </a:r>
            <a:r>
              <a:rPr lang="es-MX" sz="1600" dirty="0">
                <a:solidFill>
                  <a:schemeClr val="bg1"/>
                </a:solidFill>
              </a:rPr>
              <a:t>, pero también </a:t>
            </a:r>
            <a:r>
              <a:rPr lang="es-MX" sz="1600" b="1" dirty="0">
                <a:solidFill>
                  <a:schemeClr val="bg1"/>
                </a:solidFill>
              </a:rPr>
              <a:t>oportunidades de ganancias</a:t>
            </a:r>
            <a:r>
              <a:rPr lang="es-MX" sz="1600" dirty="0">
                <a:solidFill>
                  <a:schemeClr val="bg1"/>
                </a:solidFill>
              </a:rPr>
              <a:t> para inversores con alta tolerancia al riesgo.</a:t>
            </a:r>
            <a:br>
              <a:rPr lang="es-MX" sz="1600" dirty="0">
                <a:solidFill>
                  <a:schemeClr val="bg1"/>
                </a:solidFill>
              </a:rPr>
            </a:br>
            <a:r>
              <a:rPr lang="es-MX" sz="1600" dirty="0">
                <a:solidFill>
                  <a:schemeClr val="bg1"/>
                </a:solidFill>
              </a:rPr>
              <a:t>En nuestro análisis, se observaron diferencias importantes entre activos, siendo las criptomonedas con menor capitalización las que muestran </a:t>
            </a:r>
            <a:r>
              <a:rPr lang="es-MX" sz="1600" b="1" dirty="0">
                <a:solidFill>
                  <a:schemeClr val="bg1"/>
                </a:solidFill>
              </a:rPr>
              <a:t>mayores niveles de volatilidad</a:t>
            </a:r>
            <a:r>
              <a:rPr lang="es-MX" sz="1600" dirty="0">
                <a:solidFill>
                  <a:schemeClr val="bg1"/>
                </a:solidFill>
              </a:rPr>
              <a:t>.</a:t>
            </a:r>
          </a:p>
        </p:txBody>
      </p:sp>
      <p:pic>
        <p:nvPicPr>
          <p:cNvPr id="10" name="Imagen 9">
            <a:extLst>
              <a:ext uri="{FF2B5EF4-FFF2-40B4-BE49-F238E27FC236}">
                <a16:creationId xmlns:a16="http://schemas.microsoft.com/office/drawing/2014/main" id="{25AC3806-4E3C-D1BD-0CC6-E3D0AD5225F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51114" y="1714547"/>
            <a:ext cx="6707624" cy="3328425"/>
          </a:xfrm>
          <a:prstGeom prst="rect">
            <a:avLst/>
          </a:prstGeom>
        </p:spPr>
      </p:pic>
      <p:pic>
        <p:nvPicPr>
          <p:cNvPr id="3" name="Imagen 2" descr="Icono&#10;&#10;El contenido generado por IA puede ser incorrecto.">
            <a:extLst>
              <a:ext uri="{FF2B5EF4-FFF2-40B4-BE49-F238E27FC236}">
                <a16:creationId xmlns:a16="http://schemas.microsoft.com/office/drawing/2014/main" id="{7511B2EB-185E-FB54-3757-550317A3AC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40105" y="194473"/>
            <a:ext cx="1530962" cy="1530962"/>
          </a:xfrm>
          <a:prstGeom prst="rect">
            <a:avLst/>
          </a:prstGeom>
        </p:spPr>
      </p:pic>
      <p:sp>
        <p:nvSpPr>
          <p:cNvPr id="11" name="CuadroTexto 10">
            <a:extLst>
              <a:ext uri="{FF2B5EF4-FFF2-40B4-BE49-F238E27FC236}">
                <a16:creationId xmlns:a16="http://schemas.microsoft.com/office/drawing/2014/main" id="{0AE3AA40-02B0-6D6B-7111-CF5908E3001E}"/>
              </a:ext>
            </a:extLst>
          </p:cNvPr>
          <p:cNvSpPr txBox="1"/>
          <p:nvPr/>
        </p:nvSpPr>
        <p:spPr>
          <a:xfrm>
            <a:off x="751114" y="1291581"/>
            <a:ext cx="6859259" cy="369332"/>
          </a:xfrm>
          <a:prstGeom prst="rect">
            <a:avLst/>
          </a:prstGeom>
          <a:noFill/>
        </p:spPr>
        <p:txBody>
          <a:bodyPr wrap="square">
            <a:spAutoFit/>
          </a:bodyPr>
          <a:lstStyle/>
          <a:p>
            <a:r>
              <a:rPr lang="es-MX" b="1" dirty="0">
                <a:solidFill>
                  <a:schemeClr val="bg1"/>
                </a:solidFill>
              </a:rPr>
              <a:t>Altos pero dispares índices de volatilidad entre criptomonedas</a:t>
            </a:r>
            <a:endParaRPr lang="es-AR" b="1" dirty="0">
              <a:solidFill>
                <a:schemeClr val="bg1"/>
              </a:solidFill>
            </a:endParaRPr>
          </a:p>
        </p:txBody>
      </p:sp>
    </p:spTree>
    <p:extLst>
      <p:ext uri="{BB962C8B-B14F-4D97-AF65-F5344CB8AC3E}">
        <p14:creationId xmlns:p14="http://schemas.microsoft.com/office/powerpoint/2010/main" val="241847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86B5A7-3B1D-ECC8-033B-3FBD49A7FC8F}"/>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BDD375DC-1E15-9238-4B2F-9D7805CFF0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3F0B27-5E6B-CE1F-361D-2CEDC70422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32F2A42B-A09D-D6A7-6F56-3B3BCCBA63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1A0C820-C316-1850-26D5-A10292325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7BF4867-5811-F1BE-6B31-19C3CA8AB9E2}"/>
              </a:ext>
            </a:extLst>
          </p:cNvPr>
          <p:cNvSpPr/>
          <p:nvPr/>
        </p:nvSpPr>
        <p:spPr>
          <a:xfrm>
            <a:off x="751114" y="5025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Rectángulo 6">
            <a:extLst>
              <a:ext uri="{FF2B5EF4-FFF2-40B4-BE49-F238E27FC236}">
                <a16:creationId xmlns:a16="http://schemas.microsoft.com/office/drawing/2014/main" id="{451A9609-F0D2-ABF2-D2B6-A3DE8192D083}"/>
              </a:ext>
            </a:extLst>
          </p:cNvPr>
          <p:cNvSpPr/>
          <p:nvPr/>
        </p:nvSpPr>
        <p:spPr>
          <a:xfrm>
            <a:off x="7052734" y="63243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CuadroTexto 1">
            <a:extLst>
              <a:ext uri="{FF2B5EF4-FFF2-40B4-BE49-F238E27FC236}">
                <a16:creationId xmlns:a16="http://schemas.microsoft.com/office/drawing/2014/main" id="{6D019843-837D-BB88-F7E5-9C1F39FF9E37}"/>
              </a:ext>
            </a:extLst>
          </p:cNvPr>
          <p:cNvSpPr txBox="1"/>
          <p:nvPr/>
        </p:nvSpPr>
        <p:spPr>
          <a:xfrm>
            <a:off x="695427" y="662000"/>
            <a:ext cx="4789716" cy="646331"/>
          </a:xfrm>
          <a:prstGeom prst="rect">
            <a:avLst/>
          </a:prstGeom>
          <a:noFill/>
        </p:spPr>
        <p:txBody>
          <a:bodyPr wrap="square" rtlCol="0">
            <a:spAutoFit/>
          </a:bodyPr>
          <a:lstStyle/>
          <a:p>
            <a:r>
              <a:rPr lang="es-AR" sz="3600" b="1" dirty="0">
                <a:solidFill>
                  <a:schemeClr val="bg1"/>
                </a:solidFill>
              </a:rPr>
              <a:t>Insights</a:t>
            </a:r>
            <a:endParaRPr lang="es-MX" sz="3600" b="1" dirty="0">
              <a:solidFill>
                <a:schemeClr val="bg1"/>
              </a:solidFill>
            </a:endParaRPr>
          </a:p>
        </p:txBody>
      </p:sp>
      <p:sp>
        <p:nvSpPr>
          <p:cNvPr id="4" name="Rectangle 1">
            <a:extLst>
              <a:ext uri="{FF2B5EF4-FFF2-40B4-BE49-F238E27FC236}">
                <a16:creationId xmlns:a16="http://schemas.microsoft.com/office/drawing/2014/main" id="{F4A7621C-E136-0258-3D99-BE9C7E0B07CE}"/>
              </a:ext>
            </a:extLst>
          </p:cNvPr>
          <p:cNvSpPr>
            <a:spLocks noChangeArrowheads="1"/>
          </p:cNvSpPr>
          <p:nvPr/>
        </p:nvSpPr>
        <p:spPr bwMode="auto">
          <a:xfrm>
            <a:off x="4826411" y="2888272"/>
            <a:ext cx="6485924"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MX" dirty="0">
                <a:solidFill>
                  <a:schemeClr val="bg1"/>
                </a:solidFill>
              </a:rPr>
              <a:t>El análisis muestra diferencias significativas en el </a:t>
            </a:r>
            <a:r>
              <a:rPr lang="es-MX" b="1" dirty="0">
                <a:solidFill>
                  <a:schemeClr val="bg1"/>
                </a:solidFill>
              </a:rPr>
              <a:t>tiempo promedio que tardan las criptomonedas en recuperarse</a:t>
            </a:r>
            <a:r>
              <a:rPr lang="es-MX" dirty="0">
                <a:solidFill>
                  <a:schemeClr val="bg1"/>
                </a:solidFill>
              </a:rPr>
              <a:t> luego de caídas importantes (reducción de al menos un 5% del valor de la cripto).</a:t>
            </a:r>
            <a:br>
              <a:rPr lang="es-MX" dirty="0">
                <a:solidFill>
                  <a:schemeClr val="bg1"/>
                </a:solidFill>
              </a:rPr>
            </a:br>
            <a:r>
              <a:rPr lang="es-MX" dirty="0">
                <a:solidFill>
                  <a:schemeClr val="bg1"/>
                </a:solidFill>
              </a:rPr>
              <a:t>XRP, Cardano y Solana destacan como las </a:t>
            </a:r>
            <a:r>
              <a:rPr lang="es-MX" b="1" dirty="0">
                <a:solidFill>
                  <a:schemeClr val="bg1"/>
                </a:solidFill>
              </a:rPr>
              <a:t>más rápidas en recuperar valor</a:t>
            </a:r>
            <a:r>
              <a:rPr lang="es-MX" dirty="0">
                <a:solidFill>
                  <a:schemeClr val="bg1"/>
                </a:solidFill>
              </a:rPr>
              <a:t>, con promedios inferiores a 17 días. En contraste, Ethereum, </a:t>
            </a:r>
            <a:r>
              <a:rPr lang="es-MX" dirty="0" err="1">
                <a:solidFill>
                  <a:schemeClr val="bg1"/>
                </a:solidFill>
              </a:rPr>
              <a:t>Polkadot</a:t>
            </a:r>
            <a:r>
              <a:rPr lang="es-MX" dirty="0">
                <a:solidFill>
                  <a:schemeClr val="bg1"/>
                </a:solidFill>
              </a:rPr>
              <a:t> y BNB presentan </a:t>
            </a:r>
            <a:r>
              <a:rPr lang="es-MX" b="1" dirty="0">
                <a:solidFill>
                  <a:schemeClr val="bg1"/>
                </a:solidFill>
              </a:rPr>
              <a:t>recuperaciones más lentas</a:t>
            </a:r>
            <a:r>
              <a:rPr lang="es-MX" dirty="0">
                <a:solidFill>
                  <a:schemeClr val="bg1"/>
                </a:solidFill>
              </a:rPr>
              <a:t>, superando los 27 días.</a:t>
            </a:r>
            <a:br>
              <a:rPr lang="es-MX" dirty="0">
                <a:solidFill>
                  <a:schemeClr val="bg1"/>
                </a:solidFill>
              </a:rPr>
            </a:br>
            <a:r>
              <a:rPr lang="es-MX" dirty="0">
                <a:solidFill>
                  <a:schemeClr val="bg1"/>
                </a:solidFill>
              </a:rPr>
              <a:t>Este comportamiento puede ser clave para </a:t>
            </a:r>
            <a:r>
              <a:rPr lang="es-MX" b="1" dirty="0">
                <a:solidFill>
                  <a:schemeClr val="bg1"/>
                </a:solidFill>
              </a:rPr>
              <a:t>evaluar estrategias de inversión a corto plazo</a:t>
            </a:r>
            <a:r>
              <a:rPr lang="es-MX" dirty="0">
                <a:solidFill>
                  <a:schemeClr val="bg1"/>
                </a:solidFill>
              </a:rPr>
              <a:t> y la </a:t>
            </a:r>
            <a:r>
              <a:rPr lang="es-MX" b="1" dirty="0">
                <a:solidFill>
                  <a:schemeClr val="bg1"/>
                </a:solidFill>
              </a:rPr>
              <a:t>resiliencia de cada activo</a:t>
            </a:r>
            <a:r>
              <a:rPr lang="es-MX" dirty="0">
                <a:solidFill>
                  <a:schemeClr val="bg1"/>
                </a:solidFill>
              </a:rPr>
              <a:t> ante eventos de alta volatilidad.</a:t>
            </a:r>
          </a:p>
        </p:txBody>
      </p:sp>
      <p:pic>
        <p:nvPicPr>
          <p:cNvPr id="9" name="Imagen 8">
            <a:extLst>
              <a:ext uri="{FF2B5EF4-FFF2-40B4-BE49-F238E27FC236}">
                <a16:creationId xmlns:a16="http://schemas.microsoft.com/office/drawing/2014/main" id="{5AA2AA6B-01B7-3C77-AA93-6BCFDB576E04}"/>
              </a:ext>
            </a:extLst>
          </p:cNvPr>
          <p:cNvPicPr>
            <a:picLocks noChangeAspect="1"/>
          </p:cNvPicPr>
          <p:nvPr/>
        </p:nvPicPr>
        <p:blipFill>
          <a:blip r:embed="rId2"/>
          <a:stretch>
            <a:fillRect/>
          </a:stretch>
        </p:blipFill>
        <p:spPr>
          <a:xfrm>
            <a:off x="879665" y="1802298"/>
            <a:ext cx="3791479" cy="4086795"/>
          </a:xfrm>
          <a:prstGeom prst="rect">
            <a:avLst/>
          </a:prstGeom>
        </p:spPr>
      </p:pic>
      <p:pic>
        <p:nvPicPr>
          <p:cNvPr id="5" name="Imagen 4" descr="Forma&#10;&#10;El contenido generado por IA puede ser incorrecto.">
            <a:extLst>
              <a:ext uri="{FF2B5EF4-FFF2-40B4-BE49-F238E27FC236}">
                <a16:creationId xmlns:a16="http://schemas.microsoft.com/office/drawing/2014/main" id="{9DC2C18F-5C0E-FC8A-913C-4FD5F691D5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23701" y="162919"/>
            <a:ext cx="1883644" cy="1883644"/>
          </a:xfrm>
          <a:prstGeom prst="rect">
            <a:avLst/>
          </a:prstGeom>
        </p:spPr>
      </p:pic>
      <p:sp>
        <p:nvSpPr>
          <p:cNvPr id="8" name="CuadroTexto 7">
            <a:extLst>
              <a:ext uri="{FF2B5EF4-FFF2-40B4-BE49-F238E27FC236}">
                <a16:creationId xmlns:a16="http://schemas.microsoft.com/office/drawing/2014/main" id="{D58B4131-3A80-1C79-C79C-8B654B36CE74}"/>
              </a:ext>
            </a:extLst>
          </p:cNvPr>
          <p:cNvSpPr txBox="1"/>
          <p:nvPr/>
        </p:nvSpPr>
        <p:spPr>
          <a:xfrm>
            <a:off x="751114" y="1256629"/>
            <a:ext cx="6859259" cy="369332"/>
          </a:xfrm>
          <a:prstGeom prst="rect">
            <a:avLst/>
          </a:prstGeom>
          <a:noFill/>
        </p:spPr>
        <p:txBody>
          <a:bodyPr wrap="square">
            <a:spAutoFit/>
          </a:bodyPr>
          <a:lstStyle/>
          <a:p>
            <a:r>
              <a:rPr lang="es-MX" b="1" dirty="0">
                <a:solidFill>
                  <a:schemeClr val="bg1"/>
                </a:solidFill>
              </a:rPr>
              <a:t>Diferentes velocidad de recuperación tras caídas</a:t>
            </a:r>
            <a:r>
              <a:rPr lang="es-MX" dirty="0"/>
              <a:t>:</a:t>
            </a:r>
            <a:endParaRPr lang="es-AR" b="1" dirty="0">
              <a:solidFill>
                <a:schemeClr val="bg1"/>
              </a:solidFill>
            </a:endParaRPr>
          </a:p>
        </p:txBody>
      </p:sp>
    </p:spTree>
    <p:extLst>
      <p:ext uri="{BB962C8B-B14F-4D97-AF65-F5344CB8AC3E}">
        <p14:creationId xmlns:p14="http://schemas.microsoft.com/office/powerpoint/2010/main" val="2936793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9A0F9F-F0E3-C301-5EC7-40016181362B}"/>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3E4439D1-683B-5723-28ED-1D3909C699E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010DD56-ACA9-89C6-6E74-8E5565A557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B2E690F3-8247-8FAD-21EF-3E867A2863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9A38CCD-8D12-C9F7-4E58-7AA579350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5303E69-402F-B160-0C4F-87F833469518}"/>
              </a:ext>
            </a:extLst>
          </p:cNvPr>
          <p:cNvSpPr/>
          <p:nvPr/>
        </p:nvSpPr>
        <p:spPr>
          <a:xfrm>
            <a:off x="751114" y="5025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Rectángulo 6">
            <a:extLst>
              <a:ext uri="{FF2B5EF4-FFF2-40B4-BE49-F238E27FC236}">
                <a16:creationId xmlns:a16="http://schemas.microsoft.com/office/drawing/2014/main" id="{667D9AD1-DD0F-8751-3B19-FC1E4437A1AA}"/>
              </a:ext>
            </a:extLst>
          </p:cNvPr>
          <p:cNvSpPr/>
          <p:nvPr/>
        </p:nvSpPr>
        <p:spPr>
          <a:xfrm>
            <a:off x="7052734" y="63243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CuadroTexto 1">
            <a:extLst>
              <a:ext uri="{FF2B5EF4-FFF2-40B4-BE49-F238E27FC236}">
                <a16:creationId xmlns:a16="http://schemas.microsoft.com/office/drawing/2014/main" id="{F0791848-0BBE-A93F-6C27-A372F4B56C27}"/>
              </a:ext>
            </a:extLst>
          </p:cNvPr>
          <p:cNvSpPr txBox="1"/>
          <p:nvPr/>
        </p:nvSpPr>
        <p:spPr>
          <a:xfrm>
            <a:off x="695427" y="662000"/>
            <a:ext cx="4789716" cy="646331"/>
          </a:xfrm>
          <a:prstGeom prst="rect">
            <a:avLst/>
          </a:prstGeom>
          <a:noFill/>
        </p:spPr>
        <p:txBody>
          <a:bodyPr wrap="square" rtlCol="0">
            <a:spAutoFit/>
          </a:bodyPr>
          <a:lstStyle/>
          <a:p>
            <a:r>
              <a:rPr lang="es-AR" sz="3600" b="1" dirty="0">
                <a:solidFill>
                  <a:schemeClr val="bg1"/>
                </a:solidFill>
              </a:rPr>
              <a:t>Insights</a:t>
            </a:r>
            <a:endParaRPr lang="es-MX" sz="3600" b="1" dirty="0">
              <a:solidFill>
                <a:schemeClr val="bg1"/>
              </a:solidFill>
            </a:endParaRPr>
          </a:p>
        </p:txBody>
      </p:sp>
      <p:sp>
        <p:nvSpPr>
          <p:cNvPr id="4" name="Rectangle 1">
            <a:extLst>
              <a:ext uri="{FF2B5EF4-FFF2-40B4-BE49-F238E27FC236}">
                <a16:creationId xmlns:a16="http://schemas.microsoft.com/office/drawing/2014/main" id="{023A6EFA-C85D-A917-A0E2-47B45BB9BBF3}"/>
              </a:ext>
            </a:extLst>
          </p:cNvPr>
          <p:cNvSpPr>
            <a:spLocks noChangeArrowheads="1"/>
          </p:cNvSpPr>
          <p:nvPr/>
        </p:nvSpPr>
        <p:spPr bwMode="auto">
          <a:xfrm>
            <a:off x="6966857" y="2102768"/>
            <a:ext cx="4687312"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MX" sz="1600" dirty="0">
                <a:solidFill>
                  <a:schemeClr val="bg1"/>
                </a:solidFill>
              </a:rPr>
              <a:t>El análisis comparativo entre las 5 criptomonedas con mayor capitalización y las 5 con menor capitalización revela una diferencia significativa en sus niveles de volatilidad.</a:t>
            </a:r>
            <a:br>
              <a:rPr lang="es-MX" sz="1600" dirty="0">
                <a:solidFill>
                  <a:schemeClr val="bg1"/>
                </a:solidFill>
              </a:rPr>
            </a:br>
            <a:r>
              <a:rPr lang="es-MX" sz="1600" dirty="0">
                <a:solidFill>
                  <a:schemeClr val="bg1"/>
                </a:solidFill>
              </a:rPr>
              <a:t>Las criptomonedas del grupo "Top 5" (como Bitcoin, Ethereum y BNB) presentan una volatilidad promedio menor respecto al grupo "Bottom 5" (como </a:t>
            </a:r>
            <a:r>
              <a:rPr lang="es-MX" sz="1600" dirty="0" err="1">
                <a:solidFill>
                  <a:schemeClr val="bg1"/>
                </a:solidFill>
              </a:rPr>
              <a:t>Dogecoin</a:t>
            </a:r>
            <a:r>
              <a:rPr lang="es-MX" sz="1600" dirty="0">
                <a:solidFill>
                  <a:schemeClr val="bg1"/>
                </a:solidFill>
              </a:rPr>
              <a:t>, Cardano y </a:t>
            </a:r>
            <a:r>
              <a:rPr lang="es-MX" sz="1600" dirty="0" err="1">
                <a:solidFill>
                  <a:schemeClr val="bg1"/>
                </a:solidFill>
              </a:rPr>
              <a:t>Litecoin</a:t>
            </a:r>
            <a:r>
              <a:rPr lang="es-MX" sz="1600" dirty="0">
                <a:solidFill>
                  <a:schemeClr val="bg1"/>
                </a:solidFill>
              </a:rPr>
              <a:t>).</a:t>
            </a:r>
            <a:br>
              <a:rPr lang="es-MX" sz="1600" dirty="0">
                <a:solidFill>
                  <a:schemeClr val="bg1"/>
                </a:solidFill>
              </a:rPr>
            </a:br>
            <a:r>
              <a:rPr lang="es-MX" sz="1600" dirty="0">
                <a:solidFill>
                  <a:schemeClr val="bg1"/>
                </a:solidFill>
              </a:rPr>
              <a:t>El test t de diferencia de medias arrojó un resultado significativo (t = -2.373, p = 0.0464), lo que respalda la hipótesis de que las criptomonedas más grandes tienden a tener precios más estables.</a:t>
            </a:r>
            <a:br>
              <a:rPr lang="es-MX" sz="1600" dirty="0">
                <a:solidFill>
                  <a:schemeClr val="bg1"/>
                </a:solidFill>
              </a:rPr>
            </a:br>
            <a:r>
              <a:rPr lang="es-MX" sz="1600" dirty="0">
                <a:solidFill>
                  <a:schemeClr val="bg1"/>
                </a:solidFill>
              </a:rPr>
              <a:t>Este </a:t>
            </a:r>
            <a:r>
              <a:rPr lang="es-MX" sz="1600" dirty="0" err="1">
                <a:solidFill>
                  <a:schemeClr val="bg1"/>
                </a:solidFill>
              </a:rPr>
              <a:t>insight</a:t>
            </a:r>
            <a:r>
              <a:rPr lang="es-MX" sz="1600" dirty="0">
                <a:solidFill>
                  <a:schemeClr val="bg1"/>
                </a:solidFill>
              </a:rPr>
              <a:t> puede resultar útil para inversores que priorizan activos menos volátiles dentro del mercado cripto.</a:t>
            </a:r>
          </a:p>
        </p:txBody>
      </p:sp>
      <p:pic>
        <p:nvPicPr>
          <p:cNvPr id="9" name="Imagen 8">
            <a:extLst>
              <a:ext uri="{FF2B5EF4-FFF2-40B4-BE49-F238E27FC236}">
                <a16:creationId xmlns:a16="http://schemas.microsoft.com/office/drawing/2014/main" id="{D9EDFC94-2237-EBDB-CE36-D20E7C38209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49103" y="2027837"/>
            <a:ext cx="5909735" cy="4406118"/>
          </a:xfrm>
          <a:prstGeom prst="rect">
            <a:avLst/>
          </a:prstGeom>
        </p:spPr>
      </p:pic>
      <p:pic>
        <p:nvPicPr>
          <p:cNvPr id="3" name="Imagen 2" descr="Icono&#10;&#10;El contenido generado por IA puede ser incorrecto.">
            <a:extLst>
              <a:ext uri="{FF2B5EF4-FFF2-40B4-BE49-F238E27FC236}">
                <a16:creationId xmlns:a16="http://schemas.microsoft.com/office/drawing/2014/main" id="{433ED9CB-9A8E-432A-C1F2-9A85031C74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61757" y="82220"/>
            <a:ext cx="1620263" cy="1620263"/>
          </a:xfrm>
          <a:prstGeom prst="rect">
            <a:avLst/>
          </a:prstGeom>
        </p:spPr>
      </p:pic>
      <p:sp>
        <p:nvSpPr>
          <p:cNvPr id="8" name="CuadroTexto 7">
            <a:extLst>
              <a:ext uri="{FF2B5EF4-FFF2-40B4-BE49-F238E27FC236}">
                <a16:creationId xmlns:a16="http://schemas.microsoft.com/office/drawing/2014/main" id="{6BE60EF6-4E54-00E4-1CC3-EBBCCF05A336}"/>
              </a:ext>
            </a:extLst>
          </p:cNvPr>
          <p:cNvSpPr txBox="1"/>
          <p:nvPr/>
        </p:nvSpPr>
        <p:spPr>
          <a:xfrm>
            <a:off x="643467" y="1245006"/>
            <a:ext cx="9546771" cy="646331"/>
          </a:xfrm>
          <a:prstGeom prst="rect">
            <a:avLst/>
          </a:prstGeom>
          <a:noFill/>
        </p:spPr>
        <p:txBody>
          <a:bodyPr wrap="square">
            <a:spAutoFit/>
          </a:bodyPr>
          <a:lstStyle/>
          <a:p>
            <a:r>
              <a:rPr lang="es-MX" b="1" dirty="0">
                <a:solidFill>
                  <a:schemeClr val="bg1"/>
                </a:solidFill>
              </a:rPr>
              <a:t>Criptomonedas con mayor capitalización presentan, en promedio, menor volatilidad que aquellas con menor capitalización</a:t>
            </a:r>
            <a:endParaRPr lang="es-AR" b="1" dirty="0">
              <a:solidFill>
                <a:schemeClr val="bg1"/>
              </a:solidFill>
            </a:endParaRPr>
          </a:p>
        </p:txBody>
      </p:sp>
    </p:spTree>
    <p:extLst>
      <p:ext uri="{BB962C8B-B14F-4D97-AF65-F5344CB8AC3E}">
        <p14:creationId xmlns:p14="http://schemas.microsoft.com/office/powerpoint/2010/main" val="3554437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E20084-BE72-14E4-5ED8-9A8D3078D681}"/>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154DABCF-09A2-0A5B-C2AC-3A6D59C8FD6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D89B78B-895F-C63D-17BA-B66237A67E2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BCAA5781-C154-785F-433B-E3DD73762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DDA136C-76D2-5879-88B3-B758DCF23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D6EE0BF8-ECC2-8184-83C9-C42F4A8635A6}"/>
              </a:ext>
            </a:extLst>
          </p:cNvPr>
          <p:cNvSpPr/>
          <p:nvPr/>
        </p:nvSpPr>
        <p:spPr>
          <a:xfrm>
            <a:off x="751114" y="5025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Rectángulo 6">
            <a:extLst>
              <a:ext uri="{FF2B5EF4-FFF2-40B4-BE49-F238E27FC236}">
                <a16:creationId xmlns:a16="http://schemas.microsoft.com/office/drawing/2014/main" id="{11A8C7C3-094B-FB88-C02B-EC3769AB2775}"/>
              </a:ext>
            </a:extLst>
          </p:cNvPr>
          <p:cNvSpPr/>
          <p:nvPr/>
        </p:nvSpPr>
        <p:spPr>
          <a:xfrm>
            <a:off x="7848600" y="6309695"/>
            <a:ext cx="3699933" cy="604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CuadroTexto 1">
            <a:extLst>
              <a:ext uri="{FF2B5EF4-FFF2-40B4-BE49-F238E27FC236}">
                <a16:creationId xmlns:a16="http://schemas.microsoft.com/office/drawing/2014/main" id="{38EE359B-0AC0-629F-1BAC-9CDA1D4CA00E}"/>
              </a:ext>
            </a:extLst>
          </p:cNvPr>
          <p:cNvSpPr txBox="1"/>
          <p:nvPr/>
        </p:nvSpPr>
        <p:spPr>
          <a:xfrm>
            <a:off x="695427" y="662000"/>
            <a:ext cx="4789716" cy="646331"/>
          </a:xfrm>
          <a:prstGeom prst="rect">
            <a:avLst/>
          </a:prstGeom>
          <a:noFill/>
        </p:spPr>
        <p:txBody>
          <a:bodyPr wrap="square" rtlCol="0">
            <a:spAutoFit/>
          </a:bodyPr>
          <a:lstStyle/>
          <a:p>
            <a:r>
              <a:rPr lang="es-AR" sz="3600" b="1" dirty="0" err="1">
                <a:solidFill>
                  <a:schemeClr val="bg1"/>
                </a:solidFill>
              </a:rPr>
              <a:t>Insights</a:t>
            </a:r>
            <a:r>
              <a:rPr lang="es-AR" sz="3600" b="1" dirty="0">
                <a:solidFill>
                  <a:schemeClr val="bg1"/>
                </a:solidFill>
              </a:rPr>
              <a:t> Adicionales</a:t>
            </a:r>
            <a:endParaRPr lang="es-MX" sz="3600" b="1" dirty="0">
              <a:solidFill>
                <a:schemeClr val="bg1"/>
              </a:solidFill>
            </a:endParaRPr>
          </a:p>
        </p:txBody>
      </p:sp>
      <p:sp>
        <p:nvSpPr>
          <p:cNvPr id="4" name="Rectangle 1">
            <a:extLst>
              <a:ext uri="{FF2B5EF4-FFF2-40B4-BE49-F238E27FC236}">
                <a16:creationId xmlns:a16="http://schemas.microsoft.com/office/drawing/2014/main" id="{E1A5AF6B-C3BF-9C3B-9894-39A03101E9E6}"/>
              </a:ext>
            </a:extLst>
          </p:cNvPr>
          <p:cNvSpPr>
            <a:spLocks noChangeArrowheads="1"/>
          </p:cNvSpPr>
          <p:nvPr/>
        </p:nvSpPr>
        <p:spPr bwMode="auto">
          <a:xfrm>
            <a:off x="687934" y="5533205"/>
            <a:ext cx="741485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MX" dirty="0">
                <a:solidFill>
                  <a:schemeClr val="bg1"/>
                </a:solidFill>
              </a:rPr>
              <a:t>El volumen operado muestra una diferencia clara: </a:t>
            </a:r>
            <a:r>
              <a:rPr lang="es-MX" b="1" dirty="0">
                <a:solidFill>
                  <a:schemeClr val="bg1"/>
                </a:solidFill>
              </a:rPr>
              <a:t>durante los días hábiles, todas las criptomonedas analizadas registran un mayor volumen de transacciones</a:t>
            </a:r>
            <a:r>
              <a:rPr lang="es-MX" dirty="0">
                <a:solidFill>
                  <a:schemeClr val="bg1"/>
                </a:solidFill>
              </a:rPr>
              <a:t> en comparación con los fines de semana.</a:t>
            </a:r>
          </a:p>
        </p:txBody>
      </p:sp>
      <p:sp>
        <p:nvSpPr>
          <p:cNvPr id="8" name="CuadroTexto 7">
            <a:extLst>
              <a:ext uri="{FF2B5EF4-FFF2-40B4-BE49-F238E27FC236}">
                <a16:creationId xmlns:a16="http://schemas.microsoft.com/office/drawing/2014/main" id="{73695D4E-BFB8-354E-1609-E7CF81EBB232}"/>
              </a:ext>
            </a:extLst>
          </p:cNvPr>
          <p:cNvSpPr txBox="1"/>
          <p:nvPr/>
        </p:nvSpPr>
        <p:spPr>
          <a:xfrm>
            <a:off x="751114" y="1256629"/>
            <a:ext cx="7903029" cy="369332"/>
          </a:xfrm>
          <a:prstGeom prst="rect">
            <a:avLst/>
          </a:prstGeom>
          <a:noFill/>
        </p:spPr>
        <p:txBody>
          <a:bodyPr wrap="square">
            <a:spAutoFit/>
          </a:bodyPr>
          <a:lstStyle/>
          <a:p>
            <a:r>
              <a:rPr lang="es-MX" b="1" dirty="0">
                <a:solidFill>
                  <a:schemeClr val="bg1"/>
                </a:solidFill>
              </a:rPr>
              <a:t>La actividad del mercado tiende a disminuir durante los fines de semana</a:t>
            </a:r>
            <a:endParaRPr lang="es-AR" b="1" dirty="0">
              <a:solidFill>
                <a:schemeClr val="bg1"/>
              </a:solidFill>
            </a:endParaRPr>
          </a:p>
        </p:txBody>
      </p:sp>
      <p:pic>
        <p:nvPicPr>
          <p:cNvPr id="10" name="Imagen 9">
            <a:extLst>
              <a:ext uri="{FF2B5EF4-FFF2-40B4-BE49-F238E27FC236}">
                <a16:creationId xmlns:a16="http://schemas.microsoft.com/office/drawing/2014/main" id="{B7CBBA5B-447E-EA56-7C2A-CCEBA5A92976}"/>
              </a:ext>
            </a:extLst>
          </p:cNvPr>
          <p:cNvPicPr>
            <a:picLocks noChangeAspect="1"/>
          </p:cNvPicPr>
          <p:nvPr/>
        </p:nvPicPr>
        <p:blipFill>
          <a:blip r:embed="rId2"/>
          <a:stretch>
            <a:fillRect/>
          </a:stretch>
        </p:blipFill>
        <p:spPr>
          <a:xfrm>
            <a:off x="751114" y="1656556"/>
            <a:ext cx="9710057" cy="3806255"/>
          </a:xfrm>
          <a:prstGeom prst="rect">
            <a:avLst/>
          </a:prstGeom>
        </p:spPr>
      </p:pic>
      <p:pic>
        <p:nvPicPr>
          <p:cNvPr id="11" name="Imagen 10" descr="Logotipo, Icono&#10;&#10;El contenido generado por IA puede ser incorrecto.">
            <a:extLst>
              <a:ext uri="{FF2B5EF4-FFF2-40B4-BE49-F238E27FC236}">
                <a16:creationId xmlns:a16="http://schemas.microsoft.com/office/drawing/2014/main" id="{6150D637-0CFF-996A-DD9B-B98A666F5E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5533" y="211016"/>
            <a:ext cx="1393371" cy="1393371"/>
          </a:xfrm>
          <a:prstGeom prst="rect">
            <a:avLst/>
          </a:prstGeom>
        </p:spPr>
      </p:pic>
    </p:spTree>
    <p:extLst>
      <p:ext uri="{BB962C8B-B14F-4D97-AF65-F5344CB8AC3E}">
        <p14:creationId xmlns:p14="http://schemas.microsoft.com/office/powerpoint/2010/main" val="588326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8DFF35-0743-A1CE-503E-0D0F758B471B}"/>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1DB95613-3A73-487D-2CA6-432D5B2F28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745C9F5-EBFB-6F8A-25B6-83D81DF42B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6DDB5891-7BC7-EB34-35A8-113D8B6ED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791FFCD-D83A-33B0-9B97-E3D9AC03C0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7A036A01-C1FD-8B38-A5FC-C3A9D6E99B01}"/>
              </a:ext>
            </a:extLst>
          </p:cNvPr>
          <p:cNvSpPr/>
          <p:nvPr/>
        </p:nvSpPr>
        <p:spPr>
          <a:xfrm>
            <a:off x="751114" y="5025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CuadroTexto 1">
            <a:extLst>
              <a:ext uri="{FF2B5EF4-FFF2-40B4-BE49-F238E27FC236}">
                <a16:creationId xmlns:a16="http://schemas.microsoft.com/office/drawing/2014/main" id="{758AE67E-0B6C-686C-C674-A2A104C22679}"/>
              </a:ext>
            </a:extLst>
          </p:cNvPr>
          <p:cNvSpPr txBox="1"/>
          <p:nvPr/>
        </p:nvSpPr>
        <p:spPr>
          <a:xfrm>
            <a:off x="695427" y="662000"/>
            <a:ext cx="4789716" cy="646331"/>
          </a:xfrm>
          <a:prstGeom prst="rect">
            <a:avLst/>
          </a:prstGeom>
          <a:noFill/>
        </p:spPr>
        <p:txBody>
          <a:bodyPr wrap="square" rtlCol="0">
            <a:spAutoFit/>
          </a:bodyPr>
          <a:lstStyle/>
          <a:p>
            <a:r>
              <a:rPr lang="es-AR" sz="3600" b="1" dirty="0" err="1">
                <a:solidFill>
                  <a:schemeClr val="bg1"/>
                </a:solidFill>
              </a:rPr>
              <a:t>Insights</a:t>
            </a:r>
            <a:r>
              <a:rPr lang="es-AR" sz="3600" b="1" dirty="0">
                <a:solidFill>
                  <a:schemeClr val="bg1"/>
                </a:solidFill>
              </a:rPr>
              <a:t> Adicionales</a:t>
            </a:r>
            <a:endParaRPr lang="es-MX" sz="3600" b="1" dirty="0">
              <a:solidFill>
                <a:schemeClr val="bg1"/>
              </a:solidFill>
            </a:endParaRPr>
          </a:p>
        </p:txBody>
      </p:sp>
      <p:sp>
        <p:nvSpPr>
          <p:cNvPr id="4" name="Rectangle 1">
            <a:extLst>
              <a:ext uri="{FF2B5EF4-FFF2-40B4-BE49-F238E27FC236}">
                <a16:creationId xmlns:a16="http://schemas.microsoft.com/office/drawing/2014/main" id="{23E2C9B2-961D-BC90-C968-E620A570A175}"/>
              </a:ext>
            </a:extLst>
          </p:cNvPr>
          <p:cNvSpPr>
            <a:spLocks noChangeArrowheads="1"/>
          </p:cNvSpPr>
          <p:nvPr/>
        </p:nvSpPr>
        <p:spPr bwMode="auto">
          <a:xfrm>
            <a:off x="687933" y="5533205"/>
            <a:ext cx="1125369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MX" dirty="0">
                <a:solidFill>
                  <a:schemeClr val="bg1"/>
                </a:solidFill>
              </a:rPr>
              <a:t>El análisis de la distancia al máximo histórico muestra que </a:t>
            </a:r>
            <a:r>
              <a:rPr lang="es-MX" b="1" dirty="0" err="1">
                <a:solidFill>
                  <a:schemeClr val="bg1"/>
                </a:solidFill>
              </a:rPr>
              <a:t>Ripple</a:t>
            </a:r>
            <a:r>
              <a:rPr lang="es-MX" b="1" dirty="0">
                <a:solidFill>
                  <a:schemeClr val="bg1"/>
                </a:solidFill>
              </a:rPr>
              <a:t> y Bitcoin se encuentran en una posición de clara fortaleza</a:t>
            </a:r>
            <a:r>
              <a:rPr lang="es-MX" dirty="0">
                <a:solidFill>
                  <a:schemeClr val="bg1"/>
                </a:solidFill>
              </a:rPr>
              <a:t>, mientras que otras criptomonedas, como </a:t>
            </a:r>
            <a:r>
              <a:rPr lang="es-MX" dirty="0" err="1">
                <a:solidFill>
                  <a:schemeClr val="bg1"/>
                </a:solidFill>
              </a:rPr>
              <a:t>Polkadot</a:t>
            </a:r>
            <a:r>
              <a:rPr lang="es-MX" dirty="0">
                <a:solidFill>
                  <a:schemeClr val="bg1"/>
                </a:solidFill>
              </a:rPr>
              <a:t>, Cardano o </a:t>
            </a:r>
            <a:r>
              <a:rPr lang="es-MX" dirty="0" err="1">
                <a:solidFill>
                  <a:schemeClr val="bg1"/>
                </a:solidFill>
              </a:rPr>
              <a:t>Litecoin</a:t>
            </a:r>
            <a:r>
              <a:rPr lang="es-MX" dirty="0">
                <a:solidFill>
                  <a:schemeClr val="bg1"/>
                </a:solidFill>
              </a:rPr>
              <a:t>, se encuentran rezagadas respecto a sus picos históricos.</a:t>
            </a:r>
          </a:p>
        </p:txBody>
      </p:sp>
      <p:sp>
        <p:nvSpPr>
          <p:cNvPr id="8" name="CuadroTexto 7">
            <a:extLst>
              <a:ext uri="{FF2B5EF4-FFF2-40B4-BE49-F238E27FC236}">
                <a16:creationId xmlns:a16="http://schemas.microsoft.com/office/drawing/2014/main" id="{1EAE70A6-1812-F267-E7F5-805465010361}"/>
              </a:ext>
            </a:extLst>
          </p:cNvPr>
          <p:cNvSpPr txBox="1"/>
          <p:nvPr/>
        </p:nvSpPr>
        <p:spPr>
          <a:xfrm>
            <a:off x="643467" y="1253804"/>
            <a:ext cx="9046029" cy="369332"/>
          </a:xfrm>
          <a:prstGeom prst="rect">
            <a:avLst/>
          </a:prstGeom>
          <a:noFill/>
        </p:spPr>
        <p:txBody>
          <a:bodyPr wrap="square">
            <a:spAutoFit/>
          </a:bodyPr>
          <a:lstStyle/>
          <a:p>
            <a:r>
              <a:rPr lang="es-MX" b="1" dirty="0">
                <a:solidFill>
                  <a:schemeClr val="bg1"/>
                </a:solidFill>
              </a:rPr>
              <a:t>¿Qué tan cerca están las criptomonedas de volver a su máximo histórico (ATH)?</a:t>
            </a:r>
            <a:endParaRPr lang="es-AR" b="1" dirty="0">
              <a:solidFill>
                <a:schemeClr val="bg1"/>
              </a:solidFill>
            </a:endParaRPr>
          </a:p>
        </p:txBody>
      </p:sp>
      <p:pic>
        <p:nvPicPr>
          <p:cNvPr id="3" name="Imagen 2" descr="Icono&#10;&#10;El contenido generado por IA puede ser incorrecto.">
            <a:extLst>
              <a:ext uri="{FF2B5EF4-FFF2-40B4-BE49-F238E27FC236}">
                <a16:creationId xmlns:a16="http://schemas.microsoft.com/office/drawing/2014/main" id="{B6112302-7860-7F10-351E-041735672E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40105" y="194473"/>
            <a:ext cx="1530962" cy="1530962"/>
          </a:xfrm>
          <a:prstGeom prst="rect">
            <a:avLst/>
          </a:prstGeom>
        </p:spPr>
      </p:pic>
      <p:pic>
        <p:nvPicPr>
          <p:cNvPr id="7" name="Imagen 6">
            <a:extLst>
              <a:ext uri="{FF2B5EF4-FFF2-40B4-BE49-F238E27FC236}">
                <a16:creationId xmlns:a16="http://schemas.microsoft.com/office/drawing/2014/main" id="{B914CF0C-27F8-6C75-0AD0-71BF10E42432}"/>
              </a:ext>
            </a:extLst>
          </p:cNvPr>
          <p:cNvPicPr>
            <a:picLocks noChangeAspect="1"/>
          </p:cNvPicPr>
          <p:nvPr/>
        </p:nvPicPr>
        <p:blipFill>
          <a:blip r:embed="rId3"/>
          <a:stretch>
            <a:fillRect/>
          </a:stretch>
        </p:blipFill>
        <p:spPr>
          <a:xfrm>
            <a:off x="751114" y="1778935"/>
            <a:ext cx="7724869" cy="3586343"/>
          </a:xfrm>
          <a:prstGeom prst="rect">
            <a:avLst/>
          </a:prstGeom>
        </p:spPr>
      </p:pic>
    </p:spTree>
    <p:extLst>
      <p:ext uri="{BB962C8B-B14F-4D97-AF65-F5344CB8AC3E}">
        <p14:creationId xmlns:p14="http://schemas.microsoft.com/office/powerpoint/2010/main" val="34676276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C6A803-0DE0-700D-FF9E-0F9B6E0B51E4}"/>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BCE2CBDB-6F28-639E-CF5E-4731608A09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3689F1A-C5FA-2EC5-0BC0-66D140E2BB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99B7ED42-212E-C800-5B19-0BE4AC550A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CFC95B0-8E8C-01D8-E29B-C58E3D820E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BB350F56-C201-6B68-F2E7-DE48933526F0}"/>
              </a:ext>
            </a:extLst>
          </p:cNvPr>
          <p:cNvSpPr/>
          <p:nvPr/>
        </p:nvSpPr>
        <p:spPr>
          <a:xfrm>
            <a:off x="751114" y="5025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CuadroTexto 1">
            <a:extLst>
              <a:ext uri="{FF2B5EF4-FFF2-40B4-BE49-F238E27FC236}">
                <a16:creationId xmlns:a16="http://schemas.microsoft.com/office/drawing/2014/main" id="{4085F2AD-FC1A-2DD0-A1AD-F2B19FF2CE4C}"/>
              </a:ext>
            </a:extLst>
          </p:cNvPr>
          <p:cNvSpPr txBox="1"/>
          <p:nvPr/>
        </p:nvSpPr>
        <p:spPr>
          <a:xfrm>
            <a:off x="695427" y="662000"/>
            <a:ext cx="4789716" cy="646331"/>
          </a:xfrm>
          <a:prstGeom prst="rect">
            <a:avLst/>
          </a:prstGeom>
          <a:noFill/>
        </p:spPr>
        <p:txBody>
          <a:bodyPr wrap="square" rtlCol="0">
            <a:spAutoFit/>
          </a:bodyPr>
          <a:lstStyle/>
          <a:p>
            <a:r>
              <a:rPr lang="es-AR" sz="3600" b="1" dirty="0" err="1">
                <a:solidFill>
                  <a:schemeClr val="bg1"/>
                </a:solidFill>
              </a:rPr>
              <a:t>Insights</a:t>
            </a:r>
            <a:r>
              <a:rPr lang="es-AR" sz="3600" b="1" dirty="0">
                <a:solidFill>
                  <a:schemeClr val="bg1"/>
                </a:solidFill>
              </a:rPr>
              <a:t> Adicionales</a:t>
            </a:r>
            <a:endParaRPr lang="es-MX" sz="3600" b="1" dirty="0">
              <a:solidFill>
                <a:schemeClr val="bg1"/>
              </a:solidFill>
            </a:endParaRPr>
          </a:p>
        </p:txBody>
      </p:sp>
      <p:sp>
        <p:nvSpPr>
          <p:cNvPr id="4" name="Rectangle 1">
            <a:extLst>
              <a:ext uri="{FF2B5EF4-FFF2-40B4-BE49-F238E27FC236}">
                <a16:creationId xmlns:a16="http://schemas.microsoft.com/office/drawing/2014/main" id="{AC49AEA7-17E8-111F-9223-C0ACBE3D4A17}"/>
              </a:ext>
            </a:extLst>
          </p:cNvPr>
          <p:cNvSpPr>
            <a:spLocks noChangeArrowheads="1"/>
          </p:cNvSpPr>
          <p:nvPr/>
        </p:nvSpPr>
        <p:spPr bwMode="auto">
          <a:xfrm>
            <a:off x="687933" y="5256206"/>
            <a:ext cx="1125369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MX" dirty="0">
                <a:solidFill>
                  <a:schemeClr val="bg1"/>
                </a:solidFill>
              </a:rPr>
              <a:t>El análisis del ratio de circulación revela diferencias importantes en la dinámica de emisión de las principales criptomonedas. </a:t>
            </a:r>
            <a:r>
              <a:rPr lang="es-MX" b="1" dirty="0">
                <a:solidFill>
                  <a:schemeClr val="bg1"/>
                </a:solidFill>
              </a:rPr>
              <a:t>Bitcoin y </a:t>
            </a:r>
            <a:r>
              <a:rPr lang="es-MX" b="1" dirty="0" err="1">
                <a:solidFill>
                  <a:schemeClr val="bg1"/>
                </a:solidFill>
              </a:rPr>
              <a:t>Litecoin</a:t>
            </a:r>
            <a:r>
              <a:rPr lang="es-MX" b="1" dirty="0">
                <a:solidFill>
                  <a:schemeClr val="bg1"/>
                </a:solidFill>
              </a:rPr>
              <a:t> presentan una circulación superior al 90%, lo que indica una baja presión inflacionaria futura y refuerza su percepción como activos escasos.</a:t>
            </a:r>
            <a:r>
              <a:rPr lang="es-MX" dirty="0">
                <a:solidFill>
                  <a:schemeClr val="bg1"/>
                </a:solidFill>
              </a:rPr>
              <a:t> En contraste, XRP apenas alcanza el 59% de circulación, lo que puede implicar riesgo de dilución si su emisión no es controlada. Por otro lado, criptomonedas como Ethereum, Solana o </a:t>
            </a:r>
            <a:r>
              <a:rPr lang="es-MX" dirty="0" err="1">
                <a:solidFill>
                  <a:schemeClr val="bg1"/>
                </a:solidFill>
              </a:rPr>
              <a:t>Dogecoin</a:t>
            </a:r>
            <a:r>
              <a:rPr lang="es-MX" dirty="0">
                <a:solidFill>
                  <a:schemeClr val="bg1"/>
                </a:solidFill>
              </a:rPr>
              <a:t> no tienen un suministro máximo definido.</a:t>
            </a:r>
          </a:p>
        </p:txBody>
      </p:sp>
      <p:sp>
        <p:nvSpPr>
          <p:cNvPr id="8" name="CuadroTexto 7">
            <a:extLst>
              <a:ext uri="{FF2B5EF4-FFF2-40B4-BE49-F238E27FC236}">
                <a16:creationId xmlns:a16="http://schemas.microsoft.com/office/drawing/2014/main" id="{021DFA82-7E25-93AE-E1EB-84CA064AAAA7}"/>
              </a:ext>
            </a:extLst>
          </p:cNvPr>
          <p:cNvSpPr txBox="1"/>
          <p:nvPr/>
        </p:nvSpPr>
        <p:spPr>
          <a:xfrm>
            <a:off x="643467" y="1253804"/>
            <a:ext cx="9046029" cy="369332"/>
          </a:xfrm>
          <a:prstGeom prst="rect">
            <a:avLst/>
          </a:prstGeom>
          <a:noFill/>
        </p:spPr>
        <p:txBody>
          <a:bodyPr wrap="square">
            <a:spAutoFit/>
          </a:bodyPr>
          <a:lstStyle/>
          <a:p>
            <a:r>
              <a:rPr lang="es-MX" b="1" dirty="0">
                <a:solidFill>
                  <a:schemeClr val="bg1"/>
                </a:solidFill>
              </a:rPr>
              <a:t>¿Cuánta oferta está en circulación respecto al máximo posible</a:t>
            </a:r>
            <a:r>
              <a:rPr lang="es-MX" dirty="0">
                <a:solidFill>
                  <a:schemeClr val="bg1"/>
                </a:solidFill>
              </a:rPr>
              <a:t>?</a:t>
            </a:r>
            <a:endParaRPr lang="es-AR" b="1" dirty="0">
              <a:solidFill>
                <a:schemeClr val="bg1"/>
              </a:solidFill>
            </a:endParaRPr>
          </a:p>
        </p:txBody>
      </p:sp>
      <p:pic>
        <p:nvPicPr>
          <p:cNvPr id="9" name="Imagen 8">
            <a:extLst>
              <a:ext uri="{FF2B5EF4-FFF2-40B4-BE49-F238E27FC236}">
                <a16:creationId xmlns:a16="http://schemas.microsoft.com/office/drawing/2014/main" id="{22881ACF-4928-E980-45CE-732DFB818393}"/>
              </a:ext>
            </a:extLst>
          </p:cNvPr>
          <p:cNvPicPr>
            <a:picLocks noChangeAspect="1"/>
          </p:cNvPicPr>
          <p:nvPr/>
        </p:nvPicPr>
        <p:blipFill>
          <a:blip r:embed="rId2"/>
          <a:stretch>
            <a:fillRect/>
          </a:stretch>
        </p:blipFill>
        <p:spPr>
          <a:xfrm>
            <a:off x="751114" y="1725435"/>
            <a:ext cx="7365100" cy="3451777"/>
          </a:xfrm>
          <a:prstGeom prst="rect">
            <a:avLst/>
          </a:prstGeom>
        </p:spPr>
      </p:pic>
      <p:pic>
        <p:nvPicPr>
          <p:cNvPr id="5" name="Imagen 4" descr="Icono&#10;&#10;El contenido generado por IA puede ser incorrecto.">
            <a:extLst>
              <a:ext uri="{FF2B5EF4-FFF2-40B4-BE49-F238E27FC236}">
                <a16:creationId xmlns:a16="http://schemas.microsoft.com/office/drawing/2014/main" id="{9BBFFD64-010E-6994-AD42-C4A02E0AB9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81725" y="29347"/>
            <a:ext cx="1974133" cy="1974133"/>
          </a:xfrm>
          <a:prstGeom prst="rect">
            <a:avLst/>
          </a:prstGeom>
        </p:spPr>
      </p:pic>
    </p:spTree>
    <p:extLst>
      <p:ext uri="{BB962C8B-B14F-4D97-AF65-F5344CB8AC3E}">
        <p14:creationId xmlns:p14="http://schemas.microsoft.com/office/powerpoint/2010/main" val="4043170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EB2832-2571-9A21-3A39-91CADD539D13}"/>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703E880C-99A9-3829-F677-07CE729FEC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C6A1B73-8C44-38E1-38E5-8040F4764D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7D7BB243-1220-7A5A-5200-CB4271D327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E5BAB46-796D-5B93-ECAD-1FF6BA701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AFD880D0-2D5D-D006-EED6-E5DDDB95C026}"/>
              </a:ext>
            </a:extLst>
          </p:cNvPr>
          <p:cNvSpPr/>
          <p:nvPr/>
        </p:nvSpPr>
        <p:spPr>
          <a:xfrm>
            <a:off x="751114" y="5025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Rectángulo 6">
            <a:extLst>
              <a:ext uri="{FF2B5EF4-FFF2-40B4-BE49-F238E27FC236}">
                <a16:creationId xmlns:a16="http://schemas.microsoft.com/office/drawing/2014/main" id="{17F97505-5583-9CD6-B7A3-94D48DA68659}"/>
              </a:ext>
            </a:extLst>
          </p:cNvPr>
          <p:cNvSpPr/>
          <p:nvPr/>
        </p:nvSpPr>
        <p:spPr>
          <a:xfrm>
            <a:off x="6932991" y="6133347"/>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CuadroTexto 1">
            <a:extLst>
              <a:ext uri="{FF2B5EF4-FFF2-40B4-BE49-F238E27FC236}">
                <a16:creationId xmlns:a16="http://schemas.microsoft.com/office/drawing/2014/main" id="{C84A9F33-6BFD-2D16-B445-3578B5D6B566}"/>
              </a:ext>
            </a:extLst>
          </p:cNvPr>
          <p:cNvSpPr txBox="1"/>
          <p:nvPr/>
        </p:nvSpPr>
        <p:spPr>
          <a:xfrm>
            <a:off x="695427" y="662000"/>
            <a:ext cx="4789716" cy="646331"/>
          </a:xfrm>
          <a:prstGeom prst="rect">
            <a:avLst/>
          </a:prstGeom>
          <a:noFill/>
        </p:spPr>
        <p:txBody>
          <a:bodyPr wrap="square" rtlCol="0">
            <a:spAutoFit/>
          </a:bodyPr>
          <a:lstStyle/>
          <a:p>
            <a:r>
              <a:rPr lang="es-AR" sz="3600" b="1" dirty="0">
                <a:solidFill>
                  <a:schemeClr val="bg1"/>
                </a:solidFill>
              </a:rPr>
              <a:t>Conclusiones Insights</a:t>
            </a:r>
            <a:endParaRPr lang="es-MX" sz="3600" b="1" dirty="0">
              <a:solidFill>
                <a:schemeClr val="bg1"/>
              </a:solidFill>
            </a:endParaRPr>
          </a:p>
        </p:txBody>
      </p:sp>
      <p:sp>
        <p:nvSpPr>
          <p:cNvPr id="5" name="Rectangle 1">
            <a:extLst>
              <a:ext uri="{FF2B5EF4-FFF2-40B4-BE49-F238E27FC236}">
                <a16:creationId xmlns:a16="http://schemas.microsoft.com/office/drawing/2014/main" id="{DA67222F-ACC9-BECE-3201-93D3C6DE8737}"/>
              </a:ext>
            </a:extLst>
          </p:cNvPr>
          <p:cNvSpPr>
            <a:spLocks noChangeArrowheads="1"/>
          </p:cNvSpPr>
          <p:nvPr/>
        </p:nvSpPr>
        <p:spPr bwMode="auto">
          <a:xfrm>
            <a:off x="643467" y="1422027"/>
            <a:ext cx="6007793"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0" fontAlgn="base">
              <a:lnSpc>
                <a:spcPct val="100000"/>
              </a:lnSpc>
              <a:spcBef>
                <a:spcPct val="0"/>
              </a:spcBef>
              <a:spcAft>
                <a:spcPct val="0"/>
              </a:spcAft>
              <a:buClrTx/>
              <a:buSzTx/>
              <a:buFontTx/>
              <a:buChar char="•"/>
              <a:tabLst/>
            </a:pPr>
            <a:r>
              <a:rPr lang="es-AR" altLang="es-AR" dirty="0">
                <a:solidFill>
                  <a:schemeClr val="bg1"/>
                </a:solidFill>
              </a:rPr>
              <a:t>Las altcoins son más volátiles.</a:t>
            </a:r>
          </a:p>
          <a:p>
            <a:pPr marR="0" lvl="0" indent="0" fontAlgn="base">
              <a:lnSpc>
                <a:spcPct val="100000"/>
              </a:lnSpc>
              <a:spcBef>
                <a:spcPct val="0"/>
              </a:spcBef>
              <a:spcAft>
                <a:spcPct val="0"/>
              </a:spcAft>
              <a:buClrTx/>
              <a:buSzTx/>
              <a:buFontTx/>
              <a:buChar char="•"/>
              <a:tabLst/>
            </a:pPr>
            <a:endParaRPr lang="es-AR" altLang="es-AR" dirty="0">
              <a:solidFill>
                <a:schemeClr val="bg1"/>
              </a:solidFill>
            </a:endParaRPr>
          </a:p>
          <a:p>
            <a:pPr marR="0" lvl="0" indent="0" fontAlgn="base">
              <a:lnSpc>
                <a:spcPct val="100000"/>
              </a:lnSpc>
              <a:spcBef>
                <a:spcPct val="0"/>
              </a:spcBef>
              <a:spcAft>
                <a:spcPct val="0"/>
              </a:spcAft>
              <a:buClrTx/>
              <a:buSzTx/>
              <a:buFontTx/>
              <a:buChar char="•"/>
              <a:tabLst/>
            </a:pPr>
            <a:r>
              <a:rPr lang="es-AR" altLang="es-AR" dirty="0">
                <a:solidFill>
                  <a:schemeClr val="bg1"/>
                </a:solidFill>
              </a:rPr>
              <a:t>La capitalización del mercado de criptomonedas se encuentra altamente concentrado en Bitcoin.</a:t>
            </a:r>
          </a:p>
          <a:p>
            <a:pPr marR="0" lvl="0" indent="0" fontAlgn="base">
              <a:lnSpc>
                <a:spcPct val="100000"/>
              </a:lnSpc>
              <a:spcBef>
                <a:spcPct val="0"/>
              </a:spcBef>
              <a:spcAft>
                <a:spcPct val="0"/>
              </a:spcAft>
              <a:buClrTx/>
              <a:buSzTx/>
              <a:buFontTx/>
              <a:buChar char="•"/>
              <a:tabLst/>
            </a:pPr>
            <a:endParaRPr lang="es-AR" altLang="es-AR" dirty="0">
              <a:solidFill>
                <a:schemeClr val="bg1"/>
              </a:solidFill>
            </a:endParaRPr>
          </a:p>
          <a:p>
            <a:pPr marR="0" lvl="0" indent="0" fontAlgn="base">
              <a:lnSpc>
                <a:spcPct val="100000"/>
              </a:lnSpc>
              <a:spcBef>
                <a:spcPct val="0"/>
              </a:spcBef>
              <a:spcAft>
                <a:spcPct val="0"/>
              </a:spcAft>
              <a:buClrTx/>
              <a:buSzTx/>
              <a:buFontTx/>
              <a:buChar char="•"/>
              <a:tabLst/>
            </a:pPr>
            <a:r>
              <a:rPr lang="es-AR" altLang="es-AR" dirty="0">
                <a:solidFill>
                  <a:schemeClr val="bg1"/>
                </a:solidFill>
              </a:rPr>
              <a:t>Las criptomonedas de mayor capitalización tienden a ser más estables.</a:t>
            </a:r>
          </a:p>
          <a:p>
            <a:pPr marR="0" lvl="0" indent="0" fontAlgn="base">
              <a:lnSpc>
                <a:spcPct val="100000"/>
              </a:lnSpc>
              <a:spcBef>
                <a:spcPct val="0"/>
              </a:spcBef>
              <a:spcAft>
                <a:spcPct val="0"/>
              </a:spcAft>
              <a:buClrTx/>
              <a:buSzTx/>
              <a:buFontTx/>
              <a:buChar char="•"/>
              <a:tabLst/>
            </a:pPr>
            <a:endParaRPr lang="es-AR" altLang="es-AR" dirty="0">
              <a:solidFill>
                <a:schemeClr val="bg1"/>
              </a:solidFill>
            </a:endParaRPr>
          </a:p>
          <a:p>
            <a:pPr marR="0" lvl="0" indent="0" fontAlgn="base">
              <a:lnSpc>
                <a:spcPct val="100000"/>
              </a:lnSpc>
              <a:spcBef>
                <a:spcPct val="0"/>
              </a:spcBef>
              <a:spcAft>
                <a:spcPct val="0"/>
              </a:spcAft>
              <a:buClrTx/>
              <a:buSzTx/>
              <a:buFontTx/>
              <a:buChar char="•"/>
              <a:tabLst/>
            </a:pPr>
            <a:r>
              <a:rPr lang="es-AR" altLang="es-AR" dirty="0">
                <a:solidFill>
                  <a:schemeClr val="bg1"/>
                </a:solidFill>
              </a:rPr>
              <a:t>Hay correlaciones fuertes entre algunas </a:t>
            </a:r>
            <a:r>
              <a:rPr lang="es-AR" altLang="es-AR" dirty="0" err="1">
                <a:solidFill>
                  <a:schemeClr val="bg1"/>
                </a:solidFill>
              </a:rPr>
              <a:t>criptos</a:t>
            </a:r>
            <a:r>
              <a:rPr lang="es-AR" altLang="es-AR" dirty="0">
                <a:solidFill>
                  <a:schemeClr val="bg1"/>
                </a:solidFill>
              </a:rPr>
              <a:t>.</a:t>
            </a:r>
          </a:p>
          <a:p>
            <a:pPr marR="0" lvl="0" indent="0" fontAlgn="base">
              <a:lnSpc>
                <a:spcPct val="100000"/>
              </a:lnSpc>
              <a:spcBef>
                <a:spcPct val="0"/>
              </a:spcBef>
              <a:spcAft>
                <a:spcPct val="0"/>
              </a:spcAft>
              <a:buClrTx/>
              <a:buSzTx/>
              <a:buFontTx/>
              <a:buChar char="•"/>
              <a:tabLst/>
            </a:pPr>
            <a:endParaRPr lang="es-AR" altLang="es-AR" dirty="0">
              <a:solidFill>
                <a:schemeClr val="bg1"/>
              </a:solidFill>
            </a:endParaRPr>
          </a:p>
          <a:p>
            <a:pPr marR="0" lvl="0" indent="0" fontAlgn="base">
              <a:lnSpc>
                <a:spcPct val="100000"/>
              </a:lnSpc>
              <a:spcBef>
                <a:spcPct val="0"/>
              </a:spcBef>
              <a:spcAft>
                <a:spcPct val="0"/>
              </a:spcAft>
              <a:buClrTx/>
              <a:buSzTx/>
              <a:buFontTx/>
              <a:buChar char="•"/>
              <a:tabLst/>
            </a:pPr>
            <a:r>
              <a:rPr lang="es-AR" altLang="es-AR" dirty="0">
                <a:solidFill>
                  <a:schemeClr val="bg1"/>
                </a:solidFill>
              </a:rPr>
              <a:t>Se han observado grandes diferencias de tiempo de recuperación ante caídas de precios.</a:t>
            </a:r>
          </a:p>
          <a:p>
            <a:pPr marR="0" lvl="0" indent="0" fontAlgn="base">
              <a:lnSpc>
                <a:spcPct val="100000"/>
              </a:lnSpc>
              <a:spcBef>
                <a:spcPct val="0"/>
              </a:spcBef>
              <a:spcAft>
                <a:spcPct val="0"/>
              </a:spcAft>
              <a:buClrTx/>
              <a:buSzTx/>
              <a:buFontTx/>
              <a:buChar char="•"/>
              <a:tabLst/>
            </a:pPr>
            <a:endParaRPr lang="es-AR" altLang="es-AR" dirty="0">
              <a:solidFill>
                <a:schemeClr val="bg1"/>
              </a:solidFill>
            </a:endParaRPr>
          </a:p>
          <a:p>
            <a:pPr fontAlgn="base">
              <a:spcBef>
                <a:spcPct val="0"/>
              </a:spcBef>
              <a:spcAft>
                <a:spcPct val="0"/>
              </a:spcAft>
              <a:buFontTx/>
              <a:buChar char="•"/>
            </a:pPr>
            <a:r>
              <a:rPr lang="es-MX" dirty="0">
                <a:solidFill>
                  <a:schemeClr val="bg1"/>
                </a:solidFill>
              </a:rPr>
              <a:t>La actividad del mercado tiende a disminuir durante los fines de semana, las criptomonedas registran un mayor volumen de transacciones durante los días hábiles.</a:t>
            </a:r>
            <a:endParaRPr lang="es-AR" dirty="0">
              <a:solidFill>
                <a:schemeClr val="bg1"/>
              </a:solidFill>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AR" altLang="es-AR" sz="2000" b="0" i="0" u="none" strike="noStrike" cap="none" normalizeH="0" baseline="0" dirty="0">
              <a:ln>
                <a:noFill/>
              </a:ln>
              <a:solidFill>
                <a:schemeClr val="bg1"/>
              </a:solidFill>
              <a:effectLst/>
              <a:latin typeface="Arial" panose="020B0604020202020204" pitchFamily="34" charset="0"/>
            </a:endParaRPr>
          </a:p>
        </p:txBody>
      </p:sp>
      <p:pic>
        <p:nvPicPr>
          <p:cNvPr id="12" name="Imagen 11" descr="Icono&#10;&#10;El contenido generado por IA puede ser incorrecto.">
            <a:extLst>
              <a:ext uri="{FF2B5EF4-FFF2-40B4-BE49-F238E27FC236}">
                <a16:creationId xmlns:a16="http://schemas.microsoft.com/office/drawing/2014/main" id="{7EE6E7CA-7F93-23C1-6ABC-C3EC56624D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87897" y="107268"/>
            <a:ext cx="1963194" cy="1963194"/>
          </a:xfrm>
          <a:prstGeom prst="rect">
            <a:avLst/>
          </a:prstGeom>
        </p:spPr>
      </p:pic>
      <p:sp>
        <p:nvSpPr>
          <p:cNvPr id="4" name="CuadroTexto 3">
            <a:extLst>
              <a:ext uri="{FF2B5EF4-FFF2-40B4-BE49-F238E27FC236}">
                <a16:creationId xmlns:a16="http://schemas.microsoft.com/office/drawing/2014/main" id="{30246F36-9453-0DAC-F408-88619826F98D}"/>
              </a:ext>
            </a:extLst>
          </p:cNvPr>
          <p:cNvSpPr txBox="1"/>
          <p:nvPr/>
        </p:nvSpPr>
        <p:spPr>
          <a:xfrm>
            <a:off x="6782923" y="2838669"/>
            <a:ext cx="4940992" cy="2862322"/>
          </a:xfrm>
          <a:prstGeom prst="rect">
            <a:avLst/>
          </a:prstGeom>
          <a:noFill/>
        </p:spPr>
        <p:txBody>
          <a:bodyPr wrap="square">
            <a:spAutoFit/>
          </a:bodyPr>
          <a:lstStyle/>
          <a:p>
            <a:pPr indent="-285750" fontAlgn="base">
              <a:spcBef>
                <a:spcPct val="0"/>
              </a:spcBef>
              <a:spcAft>
                <a:spcPct val="0"/>
              </a:spcAft>
              <a:buFontTx/>
              <a:buChar char="•"/>
            </a:pPr>
            <a:r>
              <a:rPr lang="es-MX" dirty="0">
                <a:solidFill>
                  <a:schemeClr val="bg1"/>
                </a:solidFill>
              </a:rPr>
              <a:t>Solo XRP, Bitcoin y BNB se encuentran a menos del 5% de alcanzar su máximo histórico (ATH), mientras que criptomonedas como </a:t>
            </a:r>
            <a:r>
              <a:rPr lang="es-MX" dirty="0" err="1">
                <a:solidFill>
                  <a:schemeClr val="bg1"/>
                </a:solidFill>
              </a:rPr>
              <a:t>Polkadot</a:t>
            </a:r>
            <a:r>
              <a:rPr lang="es-MX" dirty="0">
                <a:solidFill>
                  <a:schemeClr val="bg1"/>
                </a:solidFill>
              </a:rPr>
              <a:t>, Cardano y </a:t>
            </a:r>
            <a:r>
              <a:rPr lang="es-MX" dirty="0" err="1">
                <a:solidFill>
                  <a:schemeClr val="bg1"/>
                </a:solidFill>
              </a:rPr>
              <a:t>Litecoin</a:t>
            </a:r>
            <a:r>
              <a:rPr lang="es-MX" dirty="0">
                <a:solidFill>
                  <a:schemeClr val="bg1"/>
                </a:solidFill>
              </a:rPr>
              <a:t> siguen muy lejos de sus valores récord.</a:t>
            </a:r>
          </a:p>
          <a:p>
            <a:pPr indent="-285750" fontAlgn="base">
              <a:spcBef>
                <a:spcPct val="0"/>
              </a:spcBef>
              <a:spcAft>
                <a:spcPct val="0"/>
              </a:spcAft>
              <a:buFontTx/>
              <a:buChar char="•"/>
            </a:pPr>
            <a:endParaRPr lang="es-MX" dirty="0">
              <a:solidFill>
                <a:schemeClr val="bg1"/>
              </a:solidFill>
            </a:endParaRPr>
          </a:p>
          <a:p>
            <a:pPr indent="-285750" fontAlgn="base">
              <a:spcBef>
                <a:spcPct val="0"/>
              </a:spcBef>
              <a:spcAft>
                <a:spcPct val="0"/>
              </a:spcAft>
              <a:buFontTx/>
              <a:buChar char="•"/>
            </a:pPr>
            <a:r>
              <a:rPr lang="es-MX" dirty="0">
                <a:solidFill>
                  <a:schemeClr val="bg1"/>
                </a:solidFill>
              </a:rPr>
              <a:t>Bitcoin y </a:t>
            </a:r>
            <a:r>
              <a:rPr lang="es-MX" dirty="0" err="1">
                <a:solidFill>
                  <a:schemeClr val="bg1"/>
                </a:solidFill>
              </a:rPr>
              <a:t>Litecoin</a:t>
            </a:r>
            <a:r>
              <a:rPr lang="es-MX" dirty="0">
                <a:solidFill>
                  <a:schemeClr val="bg1"/>
                </a:solidFill>
              </a:rPr>
              <a:t> presentan una circulación superior al 90%, lo que indica una baja presión inflacionaria futura y refuerza su percepción como activos escasos. </a:t>
            </a:r>
            <a:endParaRPr lang="es-AR" dirty="0">
              <a:solidFill>
                <a:schemeClr val="bg1"/>
              </a:solidFill>
            </a:endParaRPr>
          </a:p>
        </p:txBody>
      </p:sp>
    </p:spTree>
    <p:extLst>
      <p:ext uri="{BB962C8B-B14F-4D97-AF65-F5344CB8AC3E}">
        <p14:creationId xmlns:p14="http://schemas.microsoft.com/office/powerpoint/2010/main" val="30776306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EA0087-A417-824C-48FB-E43AD0BEE461}"/>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A8FFF507-4DE5-5172-44AC-358ED8026D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B195564-D8D0-68CF-361B-30A91BB1B8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0F21B6EA-51B0-A898-1FC1-FA596A003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2192341-4A9B-D5C4-AFD6-D1E6AEA75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D85E4AA-F1D3-56E4-A4EF-7BD52D21E730}"/>
              </a:ext>
            </a:extLst>
          </p:cNvPr>
          <p:cNvSpPr/>
          <p:nvPr/>
        </p:nvSpPr>
        <p:spPr>
          <a:xfrm>
            <a:off x="751114" y="5025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Rectángulo 6">
            <a:extLst>
              <a:ext uri="{FF2B5EF4-FFF2-40B4-BE49-F238E27FC236}">
                <a16:creationId xmlns:a16="http://schemas.microsoft.com/office/drawing/2014/main" id="{C8C6BAE4-2078-F8C2-5B13-B58BEC6F1B52}"/>
              </a:ext>
            </a:extLst>
          </p:cNvPr>
          <p:cNvSpPr/>
          <p:nvPr/>
        </p:nvSpPr>
        <p:spPr>
          <a:xfrm>
            <a:off x="7052734" y="63243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CuadroTexto 1">
            <a:extLst>
              <a:ext uri="{FF2B5EF4-FFF2-40B4-BE49-F238E27FC236}">
                <a16:creationId xmlns:a16="http://schemas.microsoft.com/office/drawing/2014/main" id="{81D28F37-5DF5-2C01-5677-1FA4132099A7}"/>
              </a:ext>
            </a:extLst>
          </p:cNvPr>
          <p:cNvSpPr txBox="1"/>
          <p:nvPr/>
        </p:nvSpPr>
        <p:spPr>
          <a:xfrm>
            <a:off x="695427" y="662000"/>
            <a:ext cx="4789716" cy="646331"/>
          </a:xfrm>
          <a:prstGeom prst="rect">
            <a:avLst/>
          </a:prstGeom>
          <a:noFill/>
        </p:spPr>
        <p:txBody>
          <a:bodyPr wrap="square" rtlCol="0">
            <a:spAutoFit/>
          </a:bodyPr>
          <a:lstStyle/>
          <a:p>
            <a:r>
              <a:rPr lang="es-AR" sz="3600" b="1" dirty="0">
                <a:solidFill>
                  <a:schemeClr val="bg1"/>
                </a:solidFill>
              </a:rPr>
              <a:t>MACHINE LEARNING</a:t>
            </a:r>
            <a:endParaRPr lang="es-MX" sz="3600" b="1" dirty="0">
              <a:solidFill>
                <a:schemeClr val="bg1"/>
              </a:solidFill>
            </a:endParaRPr>
          </a:p>
        </p:txBody>
      </p:sp>
      <p:sp>
        <p:nvSpPr>
          <p:cNvPr id="5" name="Rectangle 1">
            <a:extLst>
              <a:ext uri="{FF2B5EF4-FFF2-40B4-BE49-F238E27FC236}">
                <a16:creationId xmlns:a16="http://schemas.microsoft.com/office/drawing/2014/main" id="{A3ABB12F-4960-B933-241D-4F2A5D21AEF0}"/>
              </a:ext>
            </a:extLst>
          </p:cNvPr>
          <p:cNvSpPr>
            <a:spLocks noChangeArrowheads="1"/>
          </p:cNvSpPr>
          <p:nvPr/>
        </p:nvSpPr>
        <p:spPr bwMode="auto">
          <a:xfrm>
            <a:off x="643467" y="1422027"/>
            <a:ext cx="6007793"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buFontTx/>
              <a:buChar char="•"/>
            </a:pPr>
            <a:r>
              <a:rPr lang="es-MX" dirty="0">
                <a:solidFill>
                  <a:schemeClr val="bg1"/>
                </a:solidFill>
              </a:rPr>
              <a:t>A partir del análisis exhaustivo realizado sobre las principales criptomonedas del mercado, evaluando distintos modelos de predicción supervisada (Red Neuronal LSTM, </a:t>
            </a:r>
            <a:r>
              <a:rPr lang="es-MX" dirty="0" err="1">
                <a:solidFill>
                  <a:schemeClr val="bg1"/>
                </a:solidFill>
              </a:rPr>
              <a:t>XGBoost</a:t>
            </a:r>
            <a:r>
              <a:rPr lang="es-MX" dirty="0">
                <a:solidFill>
                  <a:schemeClr val="bg1"/>
                </a:solidFill>
              </a:rPr>
              <a:t>, Regresión Lineal y Regresión Lineal como Serie de Tiempo), se puede concluir que </a:t>
            </a:r>
            <a:r>
              <a:rPr lang="es-MX" b="1" dirty="0">
                <a:solidFill>
                  <a:schemeClr val="bg1"/>
                </a:solidFill>
              </a:rPr>
              <a:t>el modelo que obtuvo los mejores resultados globales en este contexto fue la Regresión Lineal como Serie de Tiempo</a:t>
            </a:r>
            <a:r>
              <a:rPr lang="es-MX" dirty="0">
                <a:solidFill>
                  <a:schemeClr val="bg1"/>
                </a:solidFill>
              </a:rPr>
              <a:t>.</a:t>
            </a:r>
          </a:p>
          <a:p>
            <a:pPr lvl="0" defTabSz="914400" eaLnBrk="0" fontAlgn="base" hangingPunct="0">
              <a:spcBef>
                <a:spcPct val="0"/>
              </a:spcBef>
              <a:spcAft>
                <a:spcPct val="0"/>
              </a:spcAft>
              <a:buFontTx/>
              <a:buChar char="•"/>
            </a:pPr>
            <a:endParaRPr lang="es-MX" altLang="es-AR" sz="2000" dirty="0">
              <a:solidFill>
                <a:schemeClr val="bg1"/>
              </a:solidFill>
              <a:latin typeface="Arial" panose="020B0604020202020204" pitchFamily="34" charset="0"/>
            </a:endParaRPr>
          </a:p>
          <a:p>
            <a:pPr lvl="0" defTabSz="914400" eaLnBrk="0" fontAlgn="base" hangingPunct="0">
              <a:spcBef>
                <a:spcPct val="0"/>
              </a:spcBef>
              <a:spcAft>
                <a:spcPct val="0"/>
              </a:spcAft>
              <a:buFontTx/>
              <a:buChar char="•"/>
            </a:pPr>
            <a:r>
              <a:rPr lang="es-MX" dirty="0">
                <a:solidFill>
                  <a:schemeClr val="bg1"/>
                </a:solidFill>
              </a:rPr>
              <a:t>Este modelo no solo mostró </a:t>
            </a:r>
            <a:r>
              <a:rPr lang="es-MX" b="1" dirty="0">
                <a:solidFill>
                  <a:schemeClr val="bg1"/>
                </a:solidFill>
              </a:rPr>
              <a:t>los valores más bajos de error (RMSE y MAE)</a:t>
            </a:r>
            <a:r>
              <a:rPr lang="es-MX" dirty="0">
                <a:solidFill>
                  <a:schemeClr val="bg1"/>
                </a:solidFill>
              </a:rPr>
              <a:t> en la mayoría de las criptomonedas, sino que también alcanzó los </a:t>
            </a:r>
            <a:r>
              <a:rPr lang="es-MX" b="1" dirty="0">
                <a:solidFill>
                  <a:schemeClr val="bg1"/>
                </a:solidFill>
              </a:rPr>
              <a:t>mayores coeficientes de determinación R²</a:t>
            </a:r>
            <a:r>
              <a:rPr lang="es-MX" dirty="0">
                <a:solidFill>
                  <a:schemeClr val="bg1"/>
                </a:solidFill>
              </a:rPr>
              <a:t>, superando incluso a modelos más complejos como </a:t>
            </a:r>
            <a:r>
              <a:rPr lang="es-MX" dirty="0" err="1">
                <a:solidFill>
                  <a:schemeClr val="bg1"/>
                </a:solidFill>
              </a:rPr>
              <a:t>XGBoost</a:t>
            </a:r>
            <a:r>
              <a:rPr lang="es-MX" dirty="0">
                <a:solidFill>
                  <a:schemeClr val="bg1"/>
                </a:solidFill>
              </a:rPr>
              <a:t> o LSTM, lo cual evidencia una excelente capacidad explicativa y predictiva sobre datos históricos.</a:t>
            </a:r>
            <a:endParaRPr lang="es-AR" altLang="es-AR" sz="2000" dirty="0">
              <a:solidFill>
                <a:schemeClr val="bg1"/>
              </a:solidFill>
              <a:latin typeface="Arial" panose="020B0604020202020204" pitchFamily="34" charset="0"/>
            </a:endParaRPr>
          </a:p>
        </p:txBody>
      </p:sp>
      <p:pic>
        <p:nvPicPr>
          <p:cNvPr id="11" name="Imagen 10" descr="Forma&#10;&#10;El contenido generado por IA puede ser incorrecto.">
            <a:extLst>
              <a:ext uri="{FF2B5EF4-FFF2-40B4-BE49-F238E27FC236}">
                <a16:creationId xmlns:a16="http://schemas.microsoft.com/office/drawing/2014/main" id="{D378EB0B-925C-AFCD-81BA-153A417313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71025" y="185783"/>
            <a:ext cx="1598764" cy="1598764"/>
          </a:xfrm>
          <a:prstGeom prst="rect">
            <a:avLst/>
          </a:prstGeom>
        </p:spPr>
      </p:pic>
      <p:pic>
        <p:nvPicPr>
          <p:cNvPr id="4" name="Imagen 3">
            <a:extLst>
              <a:ext uri="{FF2B5EF4-FFF2-40B4-BE49-F238E27FC236}">
                <a16:creationId xmlns:a16="http://schemas.microsoft.com/office/drawing/2014/main" id="{6347C8A2-DDC6-04E0-E4DE-1F8F28E75BEB}"/>
              </a:ext>
            </a:extLst>
          </p:cNvPr>
          <p:cNvPicPr>
            <a:picLocks noChangeAspect="1"/>
          </p:cNvPicPr>
          <p:nvPr/>
        </p:nvPicPr>
        <p:blipFill>
          <a:blip r:embed="rId3"/>
          <a:stretch>
            <a:fillRect/>
          </a:stretch>
        </p:blipFill>
        <p:spPr>
          <a:xfrm>
            <a:off x="7052734" y="2186863"/>
            <a:ext cx="3649198" cy="3735206"/>
          </a:xfrm>
          <a:prstGeom prst="rect">
            <a:avLst/>
          </a:prstGeom>
        </p:spPr>
      </p:pic>
      <p:sp>
        <p:nvSpPr>
          <p:cNvPr id="9" name="CuadroTexto 8">
            <a:extLst>
              <a:ext uri="{FF2B5EF4-FFF2-40B4-BE49-F238E27FC236}">
                <a16:creationId xmlns:a16="http://schemas.microsoft.com/office/drawing/2014/main" id="{17114A5C-3EB5-1ADE-5480-69A506E58865}"/>
              </a:ext>
            </a:extLst>
          </p:cNvPr>
          <p:cNvSpPr txBox="1"/>
          <p:nvPr/>
        </p:nvSpPr>
        <p:spPr>
          <a:xfrm>
            <a:off x="7052734" y="1492159"/>
            <a:ext cx="3528180" cy="584775"/>
          </a:xfrm>
          <a:prstGeom prst="rect">
            <a:avLst/>
          </a:prstGeom>
          <a:noFill/>
        </p:spPr>
        <p:txBody>
          <a:bodyPr wrap="square">
            <a:spAutoFit/>
          </a:bodyPr>
          <a:lstStyle/>
          <a:p>
            <a:r>
              <a:rPr lang="es-MX" sz="1600" dirty="0">
                <a:solidFill>
                  <a:schemeClr val="bg1"/>
                </a:solidFill>
              </a:rPr>
              <a:t>Resultados del modelo de Regresión Lineal como Serie de Tiempo:</a:t>
            </a:r>
            <a:endParaRPr lang="es-AR" sz="1600" dirty="0"/>
          </a:p>
        </p:txBody>
      </p:sp>
    </p:spTree>
    <p:extLst>
      <p:ext uri="{BB962C8B-B14F-4D97-AF65-F5344CB8AC3E}">
        <p14:creationId xmlns:p14="http://schemas.microsoft.com/office/powerpoint/2010/main" val="2804593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5447D1-D09B-74A7-C548-DCFC9C53D7CE}"/>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A44E8CBF-6DDA-68DC-1A7C-410FCB68CB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14EC7B9-36A2-D325-B267-4226F3E2C1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2A70D094-6625-42D2-0ED1-96626E39C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AE20A18-CF5D-9084-7F91-F981B167F3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8A892E33-848B-E800-092B-556DF524B135}"/>
              </a:ext>
            </a:extLst>
          </p:cNvPr>
          <p:cNvSpPr/>
          <p:nvPr/>
        </p:nvSpPr>
        <p:spPr>
          <a:xfrm>
            <a:off x="751114" y="5025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Rectángulo 6">
            <a:extLst>
              <a:ext uri="{FF2B5EF4-FFF2-40B4-BE49-F238E27FC236}">
                <a16:creationId xmlns:a16="http://schemas.microsoft.com/office/drawing/2014/main" id="{4E09858A-D51A-ABA0-3758-3EE53D81FA95}"/>
              </a:ext>
            </a:extLst>
          </p:cNvPr>
          <p:cNvSpPr/>
          <p:nvPr/>
        </p:nvSpPr>
        <p:spPr>
          <a:xfrm>
            <a:off x="7052734" y="6324385"/>
            <a:ext cx="449579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CuadroTexto 1">
            <a:extLst>
              <a:ext uri="{FF2B5EF4-FFF2-40B4-BE49-F238E27FC236}">
                <a16:creationId xmlns:a16="http://schemas.microsoft.com/office/drawing/2014/main" id="{654F968B-A09F-8140-D53C-F1E8A9A6FD71}"/>
              </a:ext>
            </a:extLst>
          </p:cNvPr>
          <p:cNvSpPr txBox="1"/>
          <p:nvPr/>
        </p:nvSpPr>
        <p:spPr>
          <a:xfrm>
            <a:off x="695426" y="662000"/>
            <a:ext cx="5694487" cy="646331"/>
          </a:xfrm>
          <a:prstGeom prst="rect">
            <a:avLst/>
          </a:prstGeom>
          <a:noFill/>
        </p:spPr>
        <p:txBody>
          <a:bodyPr wrap="square" rtlCol="0">
            <a:spAutoFit/>
          </a:bodyPr>
          <a:lstStyle/>
          <a:p>
            <a:r>
              <a:rPr lang="es-AR" sz="3600" b="1" dirty="0">
                <a:solidFill>
                  <a:schemeClr val="bg1"/>
                </a:solidFill>
              </a:rPr>
              <a:t>CONCLUSIONES FINALES</a:t>
            </a:r>
            <a:endParaRPr lang="es-MX" sz="3600" b="1" dirty="0">
              <a:solidFill>
                <a:schemeClr val="bg1"/>
              </a:solidFill>
            </a:endParaRPr>
          </a:p>
        </p:txBody>
      </p:sp>
      <p:sp>
        <p:nvSpPr>
          <p:cNvPr id="5" name="Rectangle 1">
            <a:extLst>
              <a:ext uri="{FF2B5EF4-FFF2-40B4-BE49-F238E27FC236}">
                <a16:creationId xmlns:a16="http://schemas.microsoft.com/office/drawing/2014/main" id="{9E2A6928-0E3E-4BB3-B066-8B0AEA42E233}"/>
              </a:ext>
            </a:extLst>
          </p:cNvPr>
          <p:cNvSpPr>
            <a:spLocks noChangeArrowheads="1"/>
          </p:cNvSpPr>
          <p:nvPr/>
        </p:nvSpPr>
        <p:spPr bwMode="auto">
          <a:xfrm>
            <a:off x="643467" y="1422027"/>
            <a:ext cx="600779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s-MX" dirty="0">
                <a:solidFill>
                  <a:schemeClr val="bg1"/>
                </a:solidFill>
              </a:rPr>
              <a:t>A lo largo de este trabajo se recorrió, con profundidad y criterio, el ciclo completo de un proyecto de ciencia de datos aplicado al mercado cripto: desde la definición de objetivos claros, hasta la elaboración de modelos predictivos y el análisis de sus resultados.</a:t>
            </a:r>
            <a:endParaRPr kumimoji="0" lang="es-AR" altLang="es-AR" sz="2000" b="0" i="0" u="none" strike="noStrike" cap="none" normalizeH="0" baseline="0" dirty="0">
              <a:ln>
                <a:noFill/>
              </a:ln>
              <a:solidFill>
                <a:schemeClr val="bg1"/>
              </a:solidFill>
              <a:effectLst/>
              <a:latin typeface="Arial" panose="020B0604020202020204" pitchFamily="34" charset="0"/>
            </a:endParaRPr>
          </a:p>
        </p:txBody>
      </p:sp>
      <p:sp>
        <p:nvSpPr>
          <p:cNvPr id="8" name="CuadroTexto 7">
            <a:extLst>
              <a:ext uri="{FF2B5EF4-FFF2-40B4-BE49-F238E27FC236}">
                <a16:creationId xmlns:a16="http://schemas.microsoft.com/office/drawing/2014/main" id="{C81E2730-52F7-0514-33BE-0C57E6934F02}"/>
              </a:ext>
            </a:extLst>
          </p:cNvPr>
          <p:cNvSpPr txBox="1"/>
          <p:nvPr/>
        </p:nvSpPr>
        <p:spPr>
          <a:xfrm>
            <a:off x="6957181" y="3816705"/>
            <a:ext cx="5214257" cy="2492990"/>
          </a:xfrm>
          <a:prstGeom prst="rect">
            <a:avLst/>
          </a:prstGeom>
          <a:noFill/>
        </p:spPr>
        <p:txBody>
          <a:bodyPr wrap="square" rtlCol="0">
            <a:spAutoFit/>
          </a:bodyPr>
          <a:lstStyle/>
          <a:p>
            <a:r>
              <a:rPr lang="es-AR" sz="2000" b="1" dirty="0">
                <a:solidFill>
                  <a:schemeClr val="bg1"/>
                </a:solidFill>
              </a:rPr>
              <a:t>Autor: Alejandro Traversa Olazabal </a:t>
            </a:r>
            <a:r>
              <a:rPr lang="es-AR" dirty="0"/>
              <a:t>🧑🏻‍💻</a:t>
            </a:r>
            <a:endParaRPr lang="es-AR" sz="2000" b="1" dirty="0">
              <a:solidFill>
                <a:schemeClr val="bg1"/>
              </a:solidFill>
            </a:endParaRPr>
          </a:p>
          <a:p>
            <a:br>
              <a:rPr lang="es-AR" dirty="0">
                <a:solidFill>
                  <a:schemeClr val="bg1"/>
                </a:solidFill>
              </a:rPr>
            </a:br>
            <a:r>
              <a:rPr lang="es-AR" sz="1400" dirty="0">
                <a:solidFill>
                  <a:schemeClr val="bg1"/>
                </a:solidFill>
              </a:rPr>
              <a:t>🔗 </a:t>
            </a:r>
            <a:r>
              <a:rPr lang="es-AR" sz="1400" dirty="0">
                <a:solidFill>
                  <a:schemeClr val="bg1"/>
                </a:solidFill>
                <a:hlinkClick r:id="rId2">
                  <a:extLst>
                    <a:ext uri="{A12FA001-AC4F-418D-AE19-62706E023703}">
                      <ahyp:hlinkClr xmlns:ahyp="http://schemas.microsoft.com/office/drawing/2018/hyperlinkcolor" val="tx"/>
                    </a:ext>
                  </a:extLst>
                </a:hlinkClick>
              </a:rPr>
              <a:t>https://www.linkedin.com/in/alejandro-traversa-olazabal/</a:t>
            </a:r>
            <a:endParaRPr lang="es-AR" sz="1400" dirty="0">
              <a:solidFill>
                <a:schemeClr val="bg1"/>
              </a:solidFill>
            </a:endParaRPr>
          </a:p>
          <a:p>
            <a:br>
              <a:rPr lang="es-AR" sz="1400" dirty="0">
                <a:solidFill>
                  <a:schemeClr val="bg1"/>
                </a:solidFill>
              </a:rPr>
            </a:br>
            <a:r>
              <a:rPr lang="es-AR" sz="1400" dirty="0">
                <a:solidFill>
                  <a:schemeClr val="bg1"/>
                </a:solidFill>
              </a:rPr>
              <a:t>🔗 </a:t>
            </a:r>
            <a:r>
              <a:rPr lang="es-AR" sz="1400" dirty="0">
                <a:solidFill>
                  <a:schemeClr val="bg1"/>
                </a:solidFill>
                <a:hlinkClick r:id="rId3">
                  <a:extLst>
                    <a:ext uri="{A12FA001-AC4F-418D-AE19-62706E023703}">
                      <ahyp:hlinkClr xmlns:ahyp="http://schemas.microsoft.com/office/drawing/2018/hyperlinkcolor" val="tx"/>
                    </a:ext>
                  </a:extLst>
                </a:hlinkClick>
              </a:rPr>
              <a:t>https://github.com/TraversaOlazabal</a:t>
            </a:r>
            <a:endParaRPr lang="es-AR" sz="1400" dirty="0">
              <a:solidFill>
                <a:schemeClr val="bg1"/>
              </a:solidFill>
            </a:endParaRPr>
          </a:p>
          <a:p>
            <a:endParaRPr lang="es-AR" sz="1400" dirty="0">
              <a:solidFill>
                <a:schemeClr val="bg1"/>
              </a:solidFill>
            </a:endParaRPr>
          </a:p>
          <a:p>
            <a:r>
              <a:rPr lang="es-AR" sz="1400" dirty="0">
                <a:solidFill>
                  <a:schemeClr val="bg1"/>
                </a:solidFill>
              </a:rPr>
              <a:t>🔗 </a:t>
            </a:r>
            <a:r>
              <a:rPr lang="es-AR" sz="1400" dirty="0">
                <a:solidFill>
                  <a:schemeClr val="bg1"/>
                </a:solidFill>
                <a:hlinkClick r:id="rId4">
                  <a:extLst>
                    <a:ext uri="{A12FA001-AC4F-418D-AE19-62706E023703}">
                      <ahyp:hlinkClr xmlns:ahyp="http://schemas.microsoft.com/office/drawing/2018/hyperlinkcolor" val="tx"/>
                    </a:ext>
                  </a:extLst>
                </a:hlinkClick>
              </a:rPr>
              <a:t>https://traversaolazabal.framer.ai/</a:t>
            </a:r>
            <a:endParaRPr lang="es-AR" sz="1400" dirty="0">
              <a:solidFill>
                <a:schemeClr val="bg1"/>
              </a:solidFill>
            </a:endParaRPr>
          </a:p>
          <a:p>
            <a:endParaRPr lang="es-AR" sz="1400" dirty="0">
              <a:solidFill>
                <a:schemeClr val="bg1"/>
              </a:solidFill>
            </a:endParaRPr>
          </a:p>
          <a:p>
            <a:r>
              <a:rPr lang="es-AR" sz="1400" dirty="0">
                <a:solidFill>
                  <a:schemeClr val="bg1"/>
                </a:solidFill>
              </a:rPr>
              <a:t>Data Science II – Comisión 75690</a:t>
            </a:r>
          </a:p>
          <a:p>
            <a:endParaRPr lang="es-AR" sz="2000" dirty="0">
              <a:latin typeface="Calibri" panose="020F0502020204030204" pitchFamily="34" charset="0"/>
              <a:ea typeface="Calibri" panose="020F0502020204030204" pitchFamily="34" charset="0"/>
              <a:cs typeface="Calibri" panose="020F0502020204030204" pitchFamily="34" charset="0"/>
            </a:endParaRPr>
          </a:p>
        </p:txBody>
      </p:sp>
      <p:pic>
        <p:nvPicPr>
          <p:cNvPr id="11" name="Imagen 10" descr="Forma&#10;&#10;El contenido generado por IA puede ser incorrecto.">
            <a:extLst>
              <a:ext uri="{FF2B5EF4-FFF2-40B4-BE49-F238E27FC236}">
                <a16:creationId xmlns:a16="http://schemas.microsoft.com/office/drawing/2014/main" id="{604E50AD-3C54-4D7A-789B-706DA1A742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15034" y="246546"/>
            <a:ext cx="1524540" cy="1524540"/>
          </a:xfrm>
          <a:prstGeom prst="rect">
            <a:avLst/>
          </a:prstGeom>
        </p:spPr>
      </p:pic>
      <p:pic>
        <p:nvPicPr>
          <p:cNvPr id="12" name="Imagen 11" descr="Icono&#10;&#10;El contenido generado por IA puede ser incorrecto.">
            <a:extLst>
              <a:ext uri="{FF2B5EF4-FFF2-40B4-BE49-F238E27FC236}">
                <a16:creationId xmlns:a16="http://schemas.microsoft.com/office/drawing/2014/main" id="{7010F202-A695-1999-CFAE-5AF697D508E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341497" y="236526"/>
            <a:ext cx="1544581" cy="1544581"/>
          </a:xfrm>
          <a:prstGeom prst="rect">
            <a:avLst/>
          </a:prstGeom>
        </p:spPr>
      </p:pic>
      <p:sp>
        <p:nvSpPr>
          <p:cNvPr id="4" name="CuadroTexto 3">
            <a:extLst>
              <a:ext uri="{FF2B5EF4-FFF2-40B4-BE49-F238E27FC236}">
                <a16:creationId xmlns:a16="http://schemas.microsoft.com/office/drawing/2014/main" id="{2BA6A6AD-34EA-5874-7084-DEFA90866285}"/>
              </a:ext>
            </a:extLst>
          </p:cNvPr>
          <p:cNvSpPr txBox="1"/>
          <p:nvPr/>
        </p:nvSpPr>
        <p:spPr>
          <a:xfrm>
            <a:off x="643467" y="3013051"/>
            <a:ext cx="6096000" cy="2308324"/>
          </a:xfrm>
          <a:prstGeom prst="rect">
            <a:avLst/>
          </a:prstGeom>
          <a:noFill/>
        </p:spPr>
        <p:txBody>
          <a:bodyPr wrap="square">
            <a:spAutoFit/>
          </a:bodyPr>
          <a:lstStyle/>
          <a:p>
            <a:pPr defTabSz="914400" eaLnBrk="0" fontAlgn="base" hangingPunct="0">
              <a:spcBef>
                <a:spcPct val="0"/>
              </a:spcBef>
              <a:spcAft>
                <a:spcPct val="0"/>
              </a:spcAft>
            </a:pPr>
            <a:r>
              <a:rPr lang="es-MX" dirty="0">
                <a:solidFill>
                  <a:schemeClr val="bg1"/>
                </a:solidFill>
              </a:rPr>
              <a:t>Uno de los aspectos más destacados de este proyecto fue la integración de una fuente de datos dinámica y viva, conectando con la API de CoinGecko para obtener datos históricos y actuales de las principales criptomonedas. Este enfoque permitió construir un dataset que no se congela en el tiempo, sino que se actualiza en cada ejecución, brindando al usuario la posibilidad de trabajar con datos vigentes y relevantes.</a:t>
            </a:r>
            <a:endParaRPr lang="es-AR" dirty="0">
              <a:solidFill>
                <a:schemeClr val="bg1"/>
              </a:solidFill>
            </a:endParaRPr>
          </a:p>
        </p:txBody>
      </p:sp>
      <p:sp>
        <p:nvSpPr>
          <p:cNvPr id="10" name="CuadroTexto 9">
            <a:extLst>
              <a:ext uri="{FF2B5EF4-FFF2-40B4-BE49-F238E27FC236}">
                <a16:creationId xmlns:a16="http://schemas.microsoft.com/office/drawing/2014/main" id="{B2F12FF8-83CC-4DEE-C911-0D6AB378BC74}"/>
              </a:ext>
            </a:extLst>
          </p:cNvPr>
          <p:cNvSpPr txBox="1"/>
          <p:nvPr/>
        </p:nvSpPr>
        <p:spPr>
          <a:xfrm>
            <a:off x="643467" y="5435071"/>
            <a:ext cx="6096000" cy="923330"/>
          </a:xfrm>
          <a:prstGeom prst="rect">
            <a:avLst/>
          </a:prstGeom>
          <a:noFill/>
        </p:spPr>
        <p:txBody>
          <a:bodyPr wrap="square">
            <a:spAutoFit/>
          </a:bodyPr>
          <a:lstStyle/>
          <a:p>
            <a:pPr defTabSz="914400" eaLnBrk="0" fontAlgn="base" hangingPunct="0">
              <a:spcBef>
                <a:spcPct val="0"/>
              </a:spcBef>
              <a:spcAft>
                <a:spcPct val="0"/>
              </a:spcAft>
            </a:pPr>
            <a:r>
              <a:rPr lang="es-MX" dirty="0">
                <a:solidFill>
                  <a:schemeClr val="bg1"/>
                </a:solidFill>
              </a:rPr>
              <a:t>En una etapa final y avanzada del proyecto, se aplicaron distintos modelos de Machine Learning supervisado para predecir el precio de cierre de las criptomonedas. </a:t>
            </a:r>
            <a:endParaRPr lang="es-AR" dirty="0">
              <a:solidFill>
                <a:schemeClr val="bg1"/>
              </a:solidFill>
            </a:endParaRPr>
          </a:p>
        </p:txBody>
      </p:sp>
      <p:sp>
        <p:nvSpPr>
          <p:cNvPr id="14" name="CuadroTexto 13">
            <a:extLst>
              <a:ext uri="{FF2B5EF4-FFF2-40B4-BE49-F238E27FC236}">
                <a16:creationId xmlns:a16="http://schemas.microsoft.com/office/drawing/2014/main" id="{6C657F93-40CA-CB4C-73F0-7C2A0FCFD5F7}"/>
              </a:ext>
            </a:extLst>
          </p:cNvPr>
          <p:cNvSpPr txBox="1"/>
          <p:nvPr/>
        </p:nvSpPr>
        <p:spPr>
          <a:xfrm>
            <a:off x="6957181" y="1882243"/>
            <a:ext cx="5017104" cy="1754326"/>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pPr defTabSz="914400" eaLnBrk="0" fontAlgn="base" hangingPunct="0">
              <a:spcBef>
                <a:spcPct val="0"/>
              </a:spcBef>
              <a:spcAft>
                <a:spcPct val="0"/>
              </a:spcAft>
            </a:pPr>
            <a:r>
              <a:rPr lang="es-MX" dirty="0">
                <a:solidFill>
                  <a:schemeClr val="bg1"/>
                </a:solidFill>
              </a:rPr>
              <a:t>Este proyecto demuestra que, con una metodología clara, herramientas accesibles y compromiso con el detalle, es posible construir soluciones valiosas en el ámbito del análisis financiero, incluso en mercados complejos y dinámicos como el cripto.</a:t>
            </a:r>
            <a:endParaRPr lang="es-AR" dirty="0">
              <a:solidFill>
                <a:schemeClr val="bg1"/>
              </a:solidFill>
            </a:endParaRPr>
          </a:p>
        </p:txBody>
      </p:sp>
    </p:spTree>
    <p:extLst>
      <p:ext uri="{BB962C8B-B14F-4D97-AF65-F5344CB8AC3E}">
        <p14:creationId xmlns:p14="http://schemas.microsoft.com/office/powerpoint/2010/main" val="2581692094"/>
      </p:ext>
    </p:extLst>
  </p:cSld>
  <p:clrMapOvr>
    <a:masterClrMapping/>
  </p:clrMapOvr>
</p:sld>
</file>

<file path=ppt/theme/theme1.xml><?xml version="1.0" encoding="utf-8"?>
<a:theme xmlns:a="http://schemas.openxmlformats.org/drawingml/2006/main" name="TribuneVTI">
  <a:themeElements>
    <a:clrScheme name="amasis">
      <a:dk1>
        <a:sysClr val="windowText" lastClr="000000"/>
      </a:dk1>
      <a:lt1>
        <a:sysClr val="window" lastClr="FFFFFF"/>
      </a:lt1>
      <a:dk2>
        <a:srgbClr val="470401"/>
      </a:dk2>
      <a:lt2>
        <a:srgbClr val="EBE2E2"/>
      </a:lt2>
      <a:accent1>
        <a:srgbClr val="BD1209"/>
      </a:accent1>
      <a:accent2>
        <a:srgbClr val="F40600"/>
      </a:accent2>
      <a:accent3>
        <a:srgbClr val="F26216"/>
      </a:accent3>
      <a:accent4>
        <a:srgbClr val="F0800D"/>
      </a:accent4>
      <a:accent5>
        <a:srgbClr val="3EA8B6"/>
      </a:accent5>
      <a:accent6>
        <a:srgbClr val="005B6B"/>
      </a:accent6>
      <a:hlink>
        <a:srgbClr val="F40600"/>
      </a:hlink>
      <a:folHlink>
        <a:srgbClr val="1C7E8E"/>
      </a:folHlink>
    </a:clrScheme>
    <a:fontScheme name="Amasis-Univers">
      <a:majorFont>
        <a:latin typeface="Amasis MT Pro Medium"/>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ribuneVTI" id="{4D84C650-59FC-4F6B-ADA6-B11C508FF6CE}" vid="{0E07EAE6-ACBC-4250-8522-FC108A45043A}"/>
    </a:ext>
  </a:extLst>
</a:theme>
</file>

<file path=docProps/app.xml><?xml version="1.0" encoding="utf-8"?>
<Properties xmlns="http://schemas.openxmlformats.org/officeDocument/2006/extended-properties" xmlns:vt="http://schemas.openxmlformats.org/officeDocument/2006/docPropsVTypes">
  <Template/>
  <TotalTime>2412</TotalTime>
  <Words>1884</Words>
  <Application>Microsoft Office PowerPoint</Application>
  <PresentationFormat>Panorámica</PresentationFormat>
  <Paragraphs>164</Paragraphs>
  <Slides>17</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17</vt:i4>
      </vt:variant>
    </vt:vector>
  </HeadingPairs>
  <TitlesOfParts>
    <vt:vector size="23" baseType="lpstr">
      <vt:lpstr>Amasis MT Pro Medium</vt:lpstr>
      <vt:lpstr>Arial</vt:lpstr>
      <vt:lpstr>Calibri</vt:lpstr>
      <vt:lpstr>Roboto</vt:lpstr>
      <vt:lpstr>Univers Light</vt:lpstr>
      <vt:lpstr>TribuneVTI</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Alejandro Traversa Olazabal</dc:creator>
  <cp:lastModifiedBy>Alejandro Traversa Olazabal</cp:lastModifiedBy>
  <cp:revision>27</cp:revision>
  <dcterms:created xsi:type="dcterms:W3CDTF">2025-06-03T06:50:40Z</dcterms:created>
  <dcterms:modified xsi:type="dcterms:W3CDTF">2025-07-21T00:16:23Z</dcterms:modified>
</cp:coreProperties>
</file>